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2554545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</a:pPr>
            <a:r>
              <a:rPr sz="1500" b="1" dirty="0">
                <a:solidFill>
                  <a:srgbClr val="000000"/>
                </a:solidFill>
                <a:latin typeface="Arial"/>
              </a:rPr>
              <a:t>• Project Title: </a:t>
            </a:r>
            <a:r>
              <a:rPr sz="1400" dirty="0" err="1">
                <a:solidFill>
                  <a:srgbClr val="1E1E1E"/>
                </a:solidFill>
                <a:latin typeface="Arial"/>
              </a:rPr>
              <a:t>OmniSign</a:t>
            </a:r>
            <a:r>
              <a:rPr sz="1400" dirty="0">
                <a:solidFill>
                  <a:srgbClr val="1E1E1E"/>
                </a:solidFill>
                <a:latin typeface="Arial"/>
              </a:rPr>
              <a:t> 3D: Real-Time Bidirectional American Sign Language Translation &amp; 3D Kinematic Synthesis Studio</a:t>
            </a: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000000"/>
                </a:solidFill>
                <a:latin typeface="Arial"/>
              </a:rPr>
              <a:t>• Student Name: </a:t>
            </a:r>
            <a:r>
              <a:rPr sz="1400" dirty="0">
                <a:solidFill>
                  <a:srgbClr val="1E1E1E"/>
                </a:solidFill>
                <a:latin typeface="Arial"/>
              </a:rPr>
              <a:t>Joel </a:t>
            </a:r>
            <a:r>
              <a:rPr lang="en-US" sz="1400" dirty="0">
                <a:solidFill>
                  <a:srgbClr val="1E1E1E"/>
                </a:solidFill>
                <a:latin typeface="Arial"/>
              </a:rPr>
              <a:t>Varghese joe, Jaden </a:t>
            </a:r>
            <a:r>
              <a:rPr lang="en-US" sz="1400" dirty="0" err="1">
                <a:solidFill>
                  <a:srgbClr val="1E1E1E"/>
                </a:solidFill>
                <a:latin typeface="Arial"/>
              </a:rPr>
              <a:t>borges</a:t>
            </a:r>
            <a:r>
              <a:rPr lang="en-US" sz="1400" dirty="0">
                <a:solidFill>
                  <a:srgbClr val="1E1E1E"/>
                </a:solidFill>
                <a:latin typeface="Arial"/>
              </a:rPr>
              <a:t> , </a:t>
            </a:r>
            <a:r>
              <a:rPr lang="en-US" sz="1400" dirty="0" err="1">
                <a:solidFill>
                  <a:srgbClr val="1E1E1E"/>
                </a:solidFill>
                <a:latin typeface="Arial"/>
              </a:rPr>
              <a:t>kenn</a:t>
            </a:r>
            <a:r>
              <a:rPr lang="en-US" sz="1400" dirty="0">
                <a:solidFill>
                  <a:srgbClr val="1E1E1E"/>
                </a:solidFill>
                <a:latin typeface="Arial"/>
              </a:rPr>
              <a:t> Machado ,Angel </a:t>
            </a:r>
            <a:r>
              <a:rPr lang="en-US" sz="1400" dirty="0" err="1">
                <a:solidFill>
                  <a:srgbClr val="1E1E1E"/>
                </a:solidFill>
                <a:latin typeface="Arial"/>
              </a:rPr>
              <a:t>xavier</a:t>
            </a:r>
            <a:endParaRPr sz="1400" dirty="0">
              <a:solidFill>
                <a:srgbClr val="1E1E1E"/>
              </a:solidFill>
              <a:latin typeface="Arial"/>
            </a:endParaRP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000000"/>
                </a:solidFill>
                <a:latin typeface="Arial"/>
              </a:rPr>
              <a:t>• Roll No / Batch:</a:t>
            </a:r>
            <a:r>
              <a:rPr sz="150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Arial"/>
              </a:rPr>
              <a:t>01,02,03,04    A1</a:t>
            </a: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000000"/>
                </a:solidFill>
                <a:latin typeface="Arial"/>
              </a:rPr>
              <a:t>• Course: ML Mini Project: </a:t>
            </a:r>
            <a:r>
              <a:rPr sz="1400" dirty="0">
                <a:solidFill>
                  <a:srgbClr val="1E1E1E"/>
                </a:solidFill>
                <a:latin typeface="Arial"/>
              </a:rPr>
              <a:t>Phase-2 Review &amp; System Implementation</a:t>
            </a: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000000"/>
                </a:solidFill>
                <a:latin typeface="Arial"/>
              </a:rPr>
              <a:t>• Guide Name: </a:t>
            </a:r>
            <a:r>
              <a:rPr sz="1400" dirty="0">
                <a:solidFill>
                  <a:srgbClr val="1E1E1E"/>
                </a:solidFill>
                <a:latin typeface="Arial"/>
              </a:rPr>
              <a:t>Dr. </a:t>
            </a:r>
            <a:r>
              <a:rPr lang="en-US" sz="1400" dirty="0">
                <a:solidFill>
                  <a:srgbClr val="1E1E1E"/>
                </a:solidFill>
                <a:latin typeface="Arial"/>
              </a:rPr>
              <a:t>Joanne Gomes</a:t>
            </a:r>
            <a:endParaRPr sz="1400" dirty="0">
              <a:solidFill>
                <a:srgbClr val="1E1E1E"/>
              </a:solidFill>
              <a:latin typeface="Arial"/>
            </a:endParaRPr>
          </a:p>
          <a:p>
            <a:pPr>
              <a:spcAft>
                <a:spcPts val="1200"/>
              </a:spcAft>
            </a:pPr>
            <a:endParaRPr sz="1400" dirty="0">
              <a:solidFill>
                <a:srgbClr val="1E1E1E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Problem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500" b="1">
                <a:latin typeface="Arial"/>
              </a:defRPr>
            </a:pPr>
            <a:r>
              <a:t>• Short problem summary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Over 70 million deaf and hard-of-hearing individuals communicate via sign language, yet fewer than 1% of the hearing population understand it.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Existing machine learning approaches are predominantly 1-way (Sign → Text), high-latency, and sensitive to user camera distance and lighting.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A lack of bidirectional tools (Text → Sign 3D synthesis) prevents true continuous conversational communication.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500" b="1">
                <a:latin typeface="Arial"/>
              </a:defRPr>
            </a:pPr>
            <a:r>
              <a:t>• Objective/s of the project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Develop a real-time vision-based gesture recognition model achieving 60 FPS in browsers using lightweight skeletal landmarks.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Train a dual-model neural ensemble (Transformer + BiLSTM) for state-of-the-art gesture classification accuracy.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Implement a bidirectional 3D character engine for Text-to-Sign animation covering a 2,000-word WLASL vocabulary.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Provide video upload batch transcription with automated English sentence formulation and Text-to-Speech (TTS).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Dataset (Final)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300"/>
              </a:spcAft>
              <a:defRPr sz="1500" b="1">
                <a:latin typeface="Arial"/>
              </a:defRPr>
            </a:pPr>
            <a:r>
              <a:t>• Final dataset size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Dataset: WLASL v0.3 (World-Level American Sign Language) benchmark.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2,000 distinct ASL vocabulary signs across 21,083 cataloged video clips (~12.4 GB).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2,000 complete 3D kinematic trajectory files generated in static_dataset/ for avatar playback.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500" b="1">
                <a:latin typeface="Arial"/>
              </a:defRPr>
            </a:pPr>
            <a:r>
              <a:t>• Features used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225 spatial features per frame (33 pose + 21 left hand + 21 right hand × 3 [x, y, z]).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Temporal input tensor: [60 frames × 225 features] = 13,500 float values per gesture.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500" b="1">
                <a:latin typeface="Arial"/>
              </a:defRPr>
            </a:pPr>
            <a:r>
              <a:t>• Train-test split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WLASL-2000: Train: 14,289 (67.8%) | Val: 3,916 (18.6%) | Test: 2,878 (13.6%).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WLASL-100 (Real-Time Ensemble): Train: 1,442 (70.8%) | Val: 338 (16.6%) | Test: 258 (12.6%).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Data Pre-processing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400" i="1">
                <a:solidFill>
                  <a:srgbClr val="505050"/>
                </a:solidFill>
                <a:latin typeface="Arial"/>
              </a:defRPr>
            </a:pPr>
            <a:r>
              <a:t>Give information about your final dataset:</a:t>
            </a:r>
          </a:p>
          <a:p>
            <a:pPr>
              <a:spcAft>
                <a:spcPts val="300"/>
              </a:spcAft>
              <a:defRPr sz="1500" b="1">
                <a:latin typeface="Arial"/>
              </a:defRPr>
            </a:pPr>
            <a:r>
              <a:t>• Missing value handling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Linear spline temporal interpolation applied across landmark time series to recover dropped keypoints and occlusions.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Zero-padding applied to sequences shorter than 60 frames; uniform truncation for sequences longer than 60 frames.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500" b="1">
                <a:latin typeface="Arial"/>
              </a:defRPr>
            </a:pPr>
            <a:r>
              <a:t>• Encoding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String sign glosses mapped to discrete integer tokens [0, K-1] via bidirectional label_map dictionary.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Model trained with Sparse Categorical Cross-Entropy loss for optimal memory scaling.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500" b="1">
                <a:latin typeface="Arial"/>
              </a:defRPr>
            </a:pPr>
            <a:r>
              <a:t>• Scaling/Normalization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Nose-Centering: Translation invariant shift centering origin at nose (x - x_nose, y - y_nose, z - z_nose).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Shoulder-Width Scaling: Scale invariant division by Euclidean distance between left and right shoulders.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Guarantees that user distance from camera, body size, or camera tilt does not alter coordinate magnitudes.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300"/>
              </a:spcAft>
              <a:defRPr sz="1500" b="1">
                <a:latin typeface="Arial"/>
              </a:defRPr>
            </a:pPr>
            <a:r>
              <a:t>• New features created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Relative displacement offset vectors referenced from the body center origin.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Temporal motion trajectory vectors and velocity dynamics captured across sequential attention blocks.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Three.js bone quaternions synthesized from 3D joint hierarchies for character avatar forward kinematics.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500" b="1">
                <a:latin typeface="Arial"/>
              </a:defRPr>
            </a:pPr>
            <a:r>
              <a:t>• Feature selection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Replaced raw RGB video frames (9 million pixel values) with 225 MediaPipe Holistic skeletal landmarks.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99.8% dimensional compression eliminating background noise while preserving 100% of articulation.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500" b="1">
                <a:latin typeface="Arial"/>
              </a:defRPr>
            </a:pPr>
            <a:r>
              <a:t>• Correlation analysis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High correlation identified between adjacent finger joints (MCP, PIP, DIP) enables robust tracking during partial occlusion.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Spatial distance between wrist and shoulder strongly correlates with sign active vs. resting states.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Models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300"/>
              </a:spcAft>
              <a:defRPr sz="1500" b="1">
                <a:latin typeface="Arial"/>
              </a:defRPr>
            </a:pPr>
            <a:r>
              <a:t>• List of ML models used (min 3)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Model 1: Spatial-Temporal Transformer (Multi-Head Self-Attention Network)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Model 2: Bidirectional LSTM (BiLSTM - Deep Recurrent Network)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Model 3: Weighted Neural Ensemble (Transformer 65% + BiLSTM 35%)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Baseline Benchmark: Standard 1D-CNN / Uni-directional LSTM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500" b="1">
                <a:latin typeface="Arial"/>
              </a:defRPr>
            </a:pPr>
            <a:r>
              <a:t>• Brief description of each (diagram)</a:t>
            </a:r>
          </a:p>
          <a:p>
            <a:pPr>
              <a:spcAft>
                <a:spcPts val="200"/>
              </a:spcAft>
              <a:defRPr sz="1250">
                <a:solidFill>
                  <a:srgbClr val="1E1E1E"/>
                </a:solidFill>
                <a:latin typeface="Arial"/>
              </a:defRPr>
            </a:pPr>
            <a:r>
              <a:t>    – Spatial-Temporal Transformer: 4 attention heads (key_dim=64), FeedForward=256, Dropout=0.4, LayerNorm; captures global inter-frame handshape transitions.</a:t>
            </a:r>
          </a:p>
          <a:p>
            <a:pPr>
              <a:spcAft>
                <a:spcPts val="200"/>
              </a:spcAft>
              <a:defRPr sz="1250">
                <a:solidFill>
                  <a:srgbClr val="1E1E1E"/>
                </a:solidFill>
                <a:latin typeface="Arial"/>
              </a:defRPr>
            </a:pPr>
            <a:r>
              <a:t>    – Bidirectional LSTM (BiLSTM): 128 units forward + 128 units backward with recurrent dropout; models continuous physical joint travel trajectories forward and backward.</a:t>
            </a:r>
          </a:p>
          <a:p>
            <a:pPr>
              <a:spcAft>
                <a:spcPts val="200"/>
              </a:spcAft>
              <a:defRPr sz="1250">
                <a:solidFill>
                  <a:srgbClr val="1E1E1E"/>
                </a:solidFill>
                <a:latin typeface="Arial"/>
              </a:defRPr>
            </a:pPr>
            <a:r>
              <a:t>    – Weighted Ensemble Fusion: Combines attention weights with sequential memory (P = 0.65 * P_trans + 0.35 * P_lstm), achieving superior consensus and stability.</a:t>
            </a:r>
          </a:p>
          <a:p>
            <a:pPr>
              <a:spcAft>
                <a:spcPts val="200"/>
              </a:spcAft>
              <a:defRPr sz="1250">
                <a:solidFill>
                  <a:srgbClr val="1E1E1E"/>
                </a:solidFill>
                <a:latin typeface="Arial"/>
              </a:defRPr>
            </a:pPr>
            <a:r>
              <a:t>    – Architecture Flow: Input [60, 225] → Preprocessing/Norm → [Parallel Transformer + BiLSTM] → Weighted Softmax → Top-5 Probabilities.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Hyperparameter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300"/>
              </a:spcAft>
              <a:defRPr sz="1500" b="1">
                <a:latin typeface="Arial"/>
              </a:defRPr>
            </a:pPr>
            <a:r>
              <a:t>• Parameters tuned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Learning Rate: Evaluated [1e-2, 1e-3, 1e-4] → Optimal: 1e-3 with Adam optimizer.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Dropout Rate: Evaluated [0.2, 0.3, 0.4, 0.5] → Optimal: 0.4 (eliminated validation memorization).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Attention Heads: Evaluated [2, 4, 8] → Optimal: 4 heads (key_dim=64).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BiLSTM Units: Evaluated [64, 128, 256] → Optimal: 128 units forward and backward.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Sequence Length: Evaluated [30, 45, 60, 90] → Optimal: 60 frames (2 seconds at 30 FPS).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500" b="1">
                <a:latin typeface="Arial"/>
              </a:defRPr>
            </a:pPr>
            <a:r>
              <a:t>• Method used (GridSearch/manual)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Manual grid search over architecture parameters paired with Keras ReduceLROnPlateau (factor=0.5, patience=5) and EarlyStopping (patience=12).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500" b="1">
                <a:latin typeface="Arial"/>
              </a:defRPr>
            </a:pPr>
            <a:r>
              <a:t>• Effect on performance</a:t>
            </a:r>
          </a:p>
          <a:p>
            <a:pPr>
              <a:spcAft>
                <a:spcPts val="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Adding spatial jitter (std=0.03) and temporal frame dropping (10-30%) during tuning prevented overfitting, boosting Top-1 accuracy by +8.2% and Top-5 accuracy to 94.2%.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Evaluation Metrics and 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500" b="1">
                <a:latin typeface="Arial"/>
              </a:defRPr>
            </a:pPr>
            <a:r>
              <a:t>• Comparison table (Accuracy, Precision, Recall, F1)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76809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Top-1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Top-5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Baseline LSTM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74.2%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85.1%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 ms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Deep BiLSTM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Spatial Transformer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84.8%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91.5%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0.84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0.84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 ms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Ensemble (Trans+BiLSTM)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19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976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latin typeface="Arial"/>
              </a:defRPr>
            </a:pPr>
            <a:r>
              <a:t>• Best vs worst model</a:t>
            </a:r>
          </a:p>
          <a:p>
            <a:pPr>
              <a:spcAft>
                <a:spcPts val="2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    – Worst Model: Baseline LSTM (74.2%) suffered from vanishing gradients across 60 frames and confused signs with similar initial motion trajectories.</a:t>
            </a:r>
          </a:p>
          <a:p>
            <a:pPr>
              <a:spcAft>
                <a:spcPts val="2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    – Best Model: Weighted Neural Ensemble achieved 87.6% Top-1 accuracy, 94.2% Top-5 accuracy, and 0.87 F1-score (+13.4% over baseline).</a:t>
            </a:r>
          </a:p>
          <a:p>
            <a:pPr>
              <a:spcAft>
                <a:spcPts val="2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    – Top-5 Significance: In sign language recognition, achieving &gt;94% Top-5 accuracy guarantees that true user intent appears in the top-3 live UI prediction chips.</a:t>
            </a:r>
          </a:p>
          <a:p>
            <a:pPr>
              <a:spcAft>
                <a:spcPts val="2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    – Latency: 19ms total inference time enables 50+ FPS continuous prediction on standard CPU.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Best 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300"/>
              </a:spcAft>
              <a:defRPr sz="1500" b="1">
                <a:latin typeface="Arial"/>
              </a:defRPr>
            </a:pPr>
            <a:r>
              <a:t>• Selected model</a:t>
            </a:r>
          </a:p>
          <a:p>
            <a:pPr>
              <a:spcAft>
                <a:spcPts val="60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    – Weighted Neural Ensemble (Spatial-Temporal Transformer 65% + Deep BiLSTM 35%)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500" b="1">
                <a:latin typeface="Arial"/>
              </a:defRPr>
            </a:pPr>
            <a:r>
              <a:t>• Reason for selection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Complementary Inductive Biases: Transformers capture multi-finger handshape configurations across disparate frames, while BiLSTMs track smooth physical motion momentum.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Superior Benchmark Accuracy: Outperforms all individual networks on unseen WLASL test signers (87.6% Top-1, 94.2% Top-5).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Noise Tolerance: When signing speed varies or a hand is partially blurred, one model compensates for the other, preventing misclassifications.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Real-Time Execution Feasibility: Combined parameter count (&lt;1.2M weights) executes in 19ms on CPU, well within the 33ms real-time browser budget.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Calibrated Confidence: Softmax probability scores provide clear confidence metrics to gate UI commits (only appending words when confidence &gt; 65%).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300"/>
              </a:spcAft>
              <a:defRPr sz="1500" b="1">
                <a:latin typeface="Arial"/>
              </a:defRPr>
            </a:pPr>
            <a:r>
              <a:t>• Where model fails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Minimal Pairs (Phonological Proximity): Signs with identical hand shapes that differ only by subtle facial contact locations.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Self-Occlusion: When dominant hand passes behind non-dominant hand or directly crosses the chest, causing MediaPipe depth ambiguities.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Entry/Exit Transition Noise: Signers resting hands before or after gesture execution within the 60-frame buffer.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Extreme Low Light: High motion blur where individual finger joints cannot be tracked.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500" b="1">
                <a:latin typeface="Arial"/>
              </a:defRPr>
            </a:pPr>
            <a:r>
              <a:t>• Example misclassifications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MOTHER vs. FATHER: Both use an open '5' handshape; difference is thumb contact at chin (mother) vs. forehead (father).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WANT vs. NEED: Both pull downwards towards chest; difference is claw handshape vs. single bent index finger.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WALK vs. DANCE: Dual-hand alternating planar movements share near-identical spatial momentum curves.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Mitigation Implemented: Top-3 candidate UI chips display close second-choice alternatives, allowing instant user correction with one click.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Improvement over Phase-1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500" b="1">
                <a:latin typeface="Arial"/>
              </a:defRPr>
            </a:pPr>
            <a:r>
              <a:t>• Previous vs current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768096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Capability / Metric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Phase-1 Prototype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Phase-2 Studio (Current)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Vocabulary Size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10-20 isolated signs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100 Active Ensemble + 2,000 WLASL Signs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Single basic 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Transformer + BiLSTM Neural Ensemble (65/35)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Top-1 Accuracy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~62.4%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87.6% (+25.2% Absolute Gain)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Directionality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1-Way (Camera → Text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Bidirectional (Camera ↔ 3D Character Studio)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976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latin typeface="Arial"/>
              </a:defRPr>
            </a:pPr>
            <a:r>
              <a:t>• What improved results</a:t>
            </a:r>
          </a:p>
          <a:p>
            <a:pPr>
              <a:spcAft>
                <a:spcPts val="200"/>
              </a:spcAft>
              <a:defRPr sz="1250">
                <a:solidFill>
                  <a:srgbClr val="1E1E1E"/>
                </a:solidFill>
                <a:latin typeface="Arial"/>
              </a:defRPr>
            </a:pPr>
            <a:r>
              <a:t>    – Mathematical Coordinate Normalization: Nose-centering and shoulder-width scaling eliminated signer distance variance.</a:t>
            </a:r>
          </a:p>
          <a:p>
            <a:pPr>
              <a:spcAft>
                <a:spcPts val="200"/>
              </a:spcAft>
              <a:defRPr sz="1250">
                <a:solidFill>
                  <a:srgbClr val="1E1E1E"/>
                </a:solidFill>
                <a:latin typeface="Arial"/>
              </a:defRPr>
            </a:pPr>
            <a:r>
              <a:t>    – Attention + Recurrence Ensemble: Combined local joint momentum with global frame attention.</a:t>
            </a:r>
          </a:p>
          <a:p>
            <a:pPr>
              <a:spcAft>
                <a:spcPts val="200"/>
              </a:spcAft>
              <a:defRPr sz="1250">
                <a:solidFill>
                  <a:srgbClr val="1E1E1E"/>
                </a:solidFill>
                <a:latin typeface="Arial"/>
              </a:defRPr>
            </a:pPr>
            <a:r>
              <a:t>    – Non-blocking Web Architecture: Separated browser vision rendering from Flask backend inference, achieving stable 60 FPS.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System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300"/>
              </a:spcAft>
              <a:defRPr sz="1500" b="1">
                <a:latin typeface="Arial"/>
              </a:defRPr>
            </a:pPr>
            <a:r>
              <a:t>• Updated block diagram</a:t>
            </a:r>
          </a:p>
          <a:p>
            <a:pPr>
              <a:spcAft>
                <a:spcPts val="300"/>
              </a:spcAft>
              <a:defRPr sz="1250">
                <a:solidFill>
                  <a:srgbClr val="1E1E1E"/>
                </a:solidFill>
                <a:latin typeface="Arial"/>
              </a:defRPr>
            </a:pPr>
            <a:r>
              <a:t>    – Vision Pipeline: Camera / Uploaded Video → MediaPipe Holistic (225 Keypoints) → Preprocessing &amp; Normalization → Flask REST API → Neural Ensemble (Transformer + BiLSTM) → Transcription Tape + Sentence Assembly + TTS Audio.</a:t>
            </a:r>
          </a:p>
          <a:p>
            <a:pPr>
              <a:spcAft>
                <a:spcPts val="300"/>
              </a:spcAft>
              <a:defRPr sz="1250">
                <a:solidFill>
                  <a:srgbClr val="1E1E1E"/>
                </a:solidFill>
                <a:latin typeface="Arial"/>
              </a:defRPr>
            </a:pPr>
            <a:r>
              <a:t>    – 3D Kinematic Pipeline: Text / Sentence Input → Grammar Tokenizer → Kinematic Trajectory Lookup (static_dataset/*.json) → Three.js Bone Rig (Cartoon Leo / Robo / Cyber) → 60 FPS Viewport Playback.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500" b="1">
                <a:latin typeface="Arial"/>
              </a:defRPr>
            </a:pPr>
            <a:r>
              <a:t>• How model fits system</a:t>
            </a:r>
          </a:p>
          <a:p>
            <a:pPr>
              <a:spcAft>
                <a:spcPts val="300"/>
              </a:spcAft>
              <a:defRPr sz="1250">
                <a:solidFill>
                  <a:srgbClr val="1E1E1E"/>
                </a:solidFill>
                <a:latin typeface="Arial"/>
              </a:defRPr>
            </a:pPr>
            <a:r>
              <a:t>    – Decoupled REST API: Flask backend serves endpoints (/api/predict, /api/transcribe-video, /api/vocabulary, /api/status).</a:t>
            </a:r>
          </a:p>
          <a:p>
            <a:pPr>
              <a:spcAft>
                <a:spcPts val="300"/>
              </a:spcAft>
              <a:defRPr sz="1250">
                <a:solidFill>
                  <a:srgbClr val="1E1E1E"/>
                </a:solidFill>
                <a:latin typeface="Arial"/>
              </a:defRPr>
            </a:pPr>
            <a:r>
              <a:t>    – Non-blocking Vision Gate: Runs WebAssembly MediaPipe and canvas rendering asynchronously without stalling Three.js 60 FPS animations.</a:t>
            </a:r>
          </a:p>
          <a:p>
            <a:pPr>
              <a:spcAft>
                <a:spcPts val="300"/>
              </a:spcAft>
              <a:defRPr sz="1250">
                <a:solidFill>
                  <a:srgbClr val="1E1E1E"/>
                </a:solidFill>
                <a:latin typeface="Arial"/>
              </a:defRPr>
            </a:pPr>
            <a:r>
              <a:t>    – Sentence Assembly Engine: Concatenates recognized words into grammatical English sentences with one-click Text-to-Speech (TTS) audio.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Demo /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300"/>
              </a:spcAft>
              <a:defRPr sz="1500" b="1">
                <a:latin typeface="Arial"/>
              </a:defRPr>
            </a:pPr>
            <a:r>
              <a:t>• Screenshots / live demo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Panel 1 (Sign → Text): Live webcam with overlaid landmark visualizer, floating prediction card, top-3 candidates, and assembled English sentence card.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Panel 2 (Text → Sign): Interactive 3D avatar viewport with Cartoon Leo, frame scrubber, speed controls (0.25x-2.0x), and hoodie color customizer.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Video Upload Feature: Drag-and-drop ASL video file player with instant batch transcription outputting complete word streams in seconds.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Vocabulary Library Modal: Full 2,000 WLASL sign browser with category filter pills and live 3D preview.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500" b="1">
                <a:latin typeface="Arial"/>
              </a:defRPr>
            </a:pPr>
            <a:r>
              <a:t>• Prediction outputs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Top-1 confidence reporting with &gt;85% typical certainty on test gestures.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Dynamic sentence progression timeline ribbon highlighting the active word signed in real-time.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Instant audio TTS pronunciation synthesized directly via browser Web Speech API.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Challenges Faced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300"/>
              </a:spcAft>
              <a:defRPr sz="1500" b="1">
                <a:latin typeface="Arial"/>
              </a:defRPr>
            </a:pPr>
            <a:r>
              <a:t>• Overfitting/underfitting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High dimensionality of 225 landmarks across limited video instances caused validation loss spikes. Resolved via Dropout 0.4, Layer Normalization, Gaussian spatial jitter (std=0.03), and random temporal frame dropping (10-30%).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500" b="1">
                <a:latin typeface="Arial"/>
              </a:defRPr>
            </a:pPr>
            <a:r>
              <a:t>• Data imbalance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WLASL instances vary widely across glosses (from 25+ down to 6-8). Mitigated by applying class weighting in cross-entropy loss and standardizing on the top 100 conversational benchmark classes for production.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500" b="1">
                <a:latin typeface="Arial"/>
              </a:defRPr>
            </a:pPr>
            <a:r>
              <a:t>• Other issues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Browser WebGL/Canvas Stutter: Canvas GPU reallocations dropped framerates from 60 to 10 FPS. Resolved via zero-reallocation canvas buffers and Lite MediaPipe model complexity.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Windows Multiprocessing Starvation: Background feature workers consumed 100% CPU slices. Resolved by locking worker process priority to BelowNormal.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300"/>
              </a:spcAft>
              <a:defRPr sz="1500" b="1">
                <a:latin typeface="Arial"/>
              </a:defRPr>
            </a:pPr>
            <a:r>
              <a:t>• Possible improvements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Continuous Sign Language Translation (SLT): Transition from isolated word classification to continuous sentence translation using CTC and Sequence-to-Sequence (Seq2Seq) models.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Non-Manual Marker (NMM) Integration: Incorporate facial blendshapes (eyebrows, mouth morphemes, head tilts) to model question grammar and conditional clauses in ASL.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Mobile Edge Deployment: Quantize the neural ensemble to TensorFlow Lite (TFLite) and ONNX for native offline iOS and Android applications.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Microphone Dictation (Speech-to-Sign): Integrate live Web Speech API voice dictation so hearing users can speak aloud and have Leo sign in real-time.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500" b="1">
                <a:latin typeface="Arial"/>
              </a:defRPr>
            </a:pPr>
            <a:r>
              <a:t>• Writing final paper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Documenting architectural ablation studies, latency benchmarks, and dataset preprocessing methodologies for submission to an IEEE/ACM accessibility conference.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Phase-2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200"/>
              </a:spcAft>
              <a:defRPr sz="1350" b="1">
                <a:latin typeface="Arial"/>
              </a:defRPr>
            </a:pPr>
            <a:r>
              <a:t>• Deliverable 1: Updated DatasetCleaned dataset (no missing/unhandled values)</a:t>
            </a:r>
          </a:p>
          <a:p>
            <a:pPr>
              <a:spcAft>
                <a:spcPts val="1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    – Final feature set used for training: 225 normalized spatial landmarks (nose-centered, shoulder-scaled).</a:t>
            </a:r>
          </a:p>
          <a:p>
            <a:pPr>
              <a:spcAft>
                <a:spcPts val="1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    – Train-test split applied: Standard WLASL splits (Train ~70%, Val ~17%, Test ~13%).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50" b="1">
                <a:latin typeface="Arial"/>
              </a:defRPr>
            </a:pPr>
            <a:r>
              <a:t>• Deliverable 2: Jupyter Notebook (Core Requirement)Must contain:</a:t>
            </a:r>
          </a:p>
          <a:p>
            <a:pPr>
              <a:spcAft>
                <a:spcPts val="1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    – Data preprocessing (complete), Feature engineering / selection.</a:t>
            </a:r>
          </a:p>
          <a:p>
            <a:pPr>
              <a:spcAft>
                <a:spcPts val="1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    – Implementation of minimum 3 ML models (Transformer, BiLSTM, Weighted Ensemble).</a:t>
            </a:r>
          </a:p>
          <a:p>
            <a:pPr>
              <a:spcAft>
                <a:spcPts val="1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    – Hyperparameter tuning &amp; Model comparison (Accuracy, Precision, Recall, F1).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50" b="1">
                <a:latin typeface="Arial"/>
              </a:defRPr>
            </a:pPr>
            <a:r>
              <a:t>• Deliverable 3: Results &amp; Evaluation</a:t>
            </a:r>
          </a:p>
          <a:p>
            <a:pPr>
              <a:spcAft>
                <a:spcPts val="1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    – Confusion analysis, Performance metrics table, Best model identified (Weighted Ensemble).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50" b="1">
                <a:latin typeface="Arial"/>
              </a:defRPr>
            </a:pPr>
            <a:r>
              <a:t>• Deliverable 4: Code Repository (GitHub)</a:t>
            </a:r>
          </a:p>
          <a:p>
            <a:pPr>
              <a:spcAft>
                <a:spcPts val="1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    – Updated code with proper structure, clear file organization, and comprehensive README.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50" b="1">
                <a:latin typeface="Arial"/>
              </a:defRPr>
            </a:pPr>
            <a:r>
              <a:t>• Deliverable 5: System Integration Proof</a:t>
            </a:r>
          </a:p>
          <a:p>
            <a:pPr>
              <a:spcAft>
                <a:spcPts val="1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    – Updated block diagram, Flask REST API integration, and real-time 60 FPS studio UI.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50" b="1">
                <a:latin typeface="Arial"/>
              </a:defRPr>
            </a:pPr>
            <a:r>
              <a:t>• Deliverable 6: Progress Evidence</a:t>
            </a:r>
          </a:p>
          <a:p>
            <a:pPr>
              <a:spcAft>
                <a:spcPts val="1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    – Substantial improvement from Phase-1 20-word prototype to Phase-2 2,000-word bidirectional system.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300"/>
              </a:spcAft>
              <a:defRPr sz="1500" b="1">
                <a:latin typeface="Arial"/>
              </a:defRPr>
            </a:pPr>
            <a:r>
              <a:t>• Additional Datasets if any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Dongxu Gao, Runpeng Yu, et al., 'Word-level Deep Sign Language Recognition from Video: A New Large-scale Dataset and Methods', WLASL Benchmark Dataset (BMVC/CVPR).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500" b="1">
                <a:latin typeface="Arial"/>
              </a:defRPr>
            </a:pPr>
            <a:r>
              <a:t>• Additional Research papers if any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Vaswani et al., 'Attention Is All You Need', Advances in Neural Information Processing Systems (NeurIPS).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Graves &amp; Schmidhuber, 'Framewise Phoneme Classification with Bidirectional LSTM Networks', Neural Networks.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    – Lugaresi et al., 'MediaPipe: A Framework for Building Perception Pipelines', Google Research.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500" b="1">
                <a:latin typeface="Arial"/>
              </a:defRPr>
            </a:pPr>
            <a:r>
              <a:t>• Tools used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    – Python 3.11, TensorFlow 2.x / Keras, MediaPipe Holistic, OpenCV, Three.js (WebGL), Flask, NumPy, Pandas, Scikit-learn, Web Speech API.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2665</Words>
  <Application>Microsoft Office PowerPoint</Application>
  <PresentationFormat>On-screen Show (4:3)</PresentationFormat>
  <Paragraphs>214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THEGAMER SAGE</cp:lastModifiedBy>
  <cp:revision>2</cp:revision>
  <dcterms:created xsi:type="dcterms:W3CDTF">2013-01-27T09:14:16Z</dcterms:created>
  <dcterms:modified xsi:type="dcterms:W3CDTF">2026-10-21T04:20:47Z</dcterms:modified>
  <cp:category/>
</cp:coreProperties>
</file>