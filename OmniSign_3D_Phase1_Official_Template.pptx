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65760"/>
            <a:ext cx="8046720" cy="822960"/>
          </a:xfrm>
          <a:prstGeom prst="rect">
            <a:avLst/>
          </a:prstGeom>
          <a:noFill/>
        </p:spPr>
        <p:txBody>
          <a:bodyPr wrap="square">
            <a:spAutoFit/>
          </a:bodyPr>
          <a:lstStyle/>
          <a:p>
            <a:pPr algn="ctr">
              <a:defRPr sz="2800" b="1">
                <a:solidFill>
                  <a:srgbClr val="000000"/>
                </a:solidFill>
                <a:latin typeface="Arial"/>
              </a:defRPr>
            </a:pPr>
            <a:r>
              <a:t>Title Slide</a:t>
            </a:r>
          </a:p>
        </p:txBody>
      </p:sp>
      <p:sp>
        <p:nvSpPr>
          <p:cNvPr id="3" name="TextBox 2"/>
          <p:cNvSpPr txBox="1"/>
          <p:nvPr/>
        </p:nvSpPr>
        <p:spPr>
          <a:xfrm>
            <a:off x="731520" y="1188720"/>
            <a:ext cx="7680960" cy="5303520"/>
          </a:xfrm>
          <a:prstGeom prst="rect">
            <a:avLst/>
          </a:prstGeom>
          <a:noFill/>
        </p:spPr>
        <p:txBody>
          <a:bodyPr wrap="square" tIns="91440" bIns="91440">
            <a:spAutoFit/>
          </a:bodyPr>
          <a:lstStyle/>
          <a:p>
            <a:pPr>
              <a:spcAft>
                <a:spcPts val="1000"/>
              </a:spcAft>
              <a:defRPr>
                <a:latin typeface="Arial"/>
              </a:defRPr>
            </a:pPr>
            <a:r>
              <a:rPr b="1" sz="1600">
                <a:solidFill>
                  <a:srgbClr val="000000"/>
                </a:solidFill>
                <a:latin typeface="Arial"/>
              </a:rPr>
              <a:t>• Project Title: </a:t>
            </a:r>
            <a:r>
              <a:rPr b="0" sz="1600">
                <a:solidFill>
                  <a:srgbClr val="1E1E1E"/>
                </a:solidFill>
                <a:latin typeface="Arial"/>
              </a:rPr>
              <a:t>OmniSign 3D: Real-Time American Sign Language (ASL) Recognition &amp; Translation Studio</a:t>
            </a:r>
          </a:p>
          <a:p>
            <a:pPr>
              <a:spcAft>
                <a:spcPts val="1000"/>
              </a:spcAft>
              <a:defRPr>
                <a:latin typeface="Arial"/>
              </a:defRPr>
            </a:pPr>
            <a:r>
              <a:rPr b="1" sz="1600">
                <a:solidFill>
                  <a:srgbClr val="000000"/>
                </a:solidFill>
                <a:latin typeface="Arial"/>
              </a:rPr>
              <a:t>• Student Name: </a:t>
            </a:r>
            <a:r>
              <a:rPr b="0" sz="1600">
                <a:solidFill>
                  <a:srgbClr val="1E1E1E"/>
                </a:solidFill>
                <a:latin typeface="Arial"/>
              </a:rPr>
              <a:t>Joel Joe Varghese</a:t>
            </a:r>
          </a:p>
          <a:p>
            <a:pPr>
              <a:spcAft>
                <a:spcPts val="1000"/>
              </a:spcAft>
              <a:defRPr>
                <a:latin typeface="Arial"/>
              </a:defRPr>
            </a:pPr>
            <a:r>
              <a:rPr b="1" sz="1600">
                <a:solidFill>
                  <a:srgbClr val="000000"/>
                </a:solidFill>
                <a:latin typeface="Arial"/>
              </a:rPr>
              <a:t>• Roll No / Batch: </a:t>
            </a:r>
            <a:r>
              <a:rPr b="0" sz="1600">
                <a:solidFill>
                  <a:srgbClr val="1E1E1E"/>
                </a:solidFill>
                <a:latin typeface="Arial"/>
              </a:rPr>
              <a:t>SE - AIML - IV / Batch 2022-2026</a:t>
            </a:r>
          </a:p>
          <a:p>
            <a:pPr>
              <a:spcAft>
                <a:spcPts val="1000"/>
              </a:spcAft>
              <a:defRPr>
                <a:latin typeface="Arial"/>
              </a:defRPr>
            </a:pPr>
            <a:r>
              <a:rPr b="1" sz="1600">
                <a:solidFill>
                  <a:srgbClr val="000000"/>
                </a:solidFill>
                <a:latin typeface="Arial"/>
              </a:rPr>
              <a:t>• Course: </a:t>
            </a:r>
            <a:r>
              <a:rPr b="0" sz="1600">
                <a:solidFill>
                  <a:srgbClr val="1E1E1E"/>
                </a:solidFill>
                <a:latin typeface="Arial"/>
              </a:rPr>
              <a:t>Machine Learning Mini Project (Phase-1 Review)</a:t>
            </a:r>
          </a:p>
          <a:p>
            <a:pPr>
              <a:spcAft>
                <a:spcPts val="1000"/>
              </a:spcAft>
              <a:defRPr>
                <a:latin typeface="Arial"/>
              </a:defRPr>
            </a:pPr>
            <a:r>
              <a:rPr b="1" sz="1600">
                <a:solidFill>
                  <a:srgbClr val="000000"/>
                </a:solidFill>
                <a:latin typeface="Arial"/>
              </a:rPr>
              <a:t>• Guide Name: </a:t>
            </a:r>
            <a:r>
              <a:rPr b="0" sz="1600">
                <a:solidFill>
                  <a:srgbClr val="1E1E1E"/>
                </a:solidFill>
                <a:latin typeface="Arial"/>
              </a:rPr>
              <a:t>Dr. Joanne Gomes (Faculty In-charge, Dept. of AIML)</a:t>
            </a:r>
          </a:p>
          <a:p>
            <a:pPr>
              <a:spcAft>
                <a:spcPts val="1000"/>
              </a:spcAft>
              <a:defRPr>
                <a:latin typeface="Arial"/>
              </a:defRPr>
            </a:pPr>
            <a:r>
              <a:rPr b="1" sz="1600">
                <a:solidFill>
                  <a:srgbClr val="000000"/>
                </a:solidFill>
                <a:latin typeface="Arial"/>
              </a:rPr>
              <a:t>• Institute Name: </a:t>
            </a:r>
            <a:r>
              <a:rPr b="0" sz="1600">
                <a:solidFill>
                  <a:srgbClr val="1E1E1E"/>
                </a:solidFill>
                <a:latin typeface="Arial"/>
              </a:rPr>
              <a:t>St. Francis Institute of Technology (Engineering College), Mumbai</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65760"/>
            <a:ext cx="8046720" cy="822960"/>
          </a:xfrm>
          <a:prstGeom prst="rect">
            <a:avLst/>
          </a:prstGeom>
          <a:noFill/>
        </p:spPr>
        <p:txBody>
          <a:bodyPr wrap="square">
            <a:spAutoFit/>
          </a:bodyPr>
          <a:lstStyle/>
          <a:p>
            <a:pPr algn="ctr">
              <a:defRPr sz="2800" b="1">
                <a:solidFill>
                  <a:srgbClr val="000000"/>
                </a:solidFill>
                <a:latin typeface="Arial"/>
              </a:defRPr>
            </a:pPr>
            <a:r>
              <a:t>Problem Statement (Revised)</a:t>
            </a:r>
          </a:p>
        </p:txBody>
      </p:sp>
      <p:sp>
        <p:nvSpPr>
          <p:cNvPr id="3" name="TextBox 2"/>
          <p:cNvSpPr txBox="1"/>
          <p:nvPr/>
        </p:nvSpPr>
        <p:spPr>
          <a:xfrm>
            <a:off x="731520" y="1188720"/>
            <a:ext cx="7680960" cy="5303520"/>
          </a:xfrm>
          <a:prstGeom prst="rect">
            <a:avLst/>
          </a:prstGeom>
          <a:noFill/>
        </p:spPr>
        <p:txBody>
          <a:bodyPr wrap="square" tIns="91440" bIns="91440">
            <a:spAutoFit/>
          </a:bodyPr>
          <a:lstStyle/>
          <a:p>
            <a:pPr>
              <a:spcAft>
                <a:spcPts val="800"/>
              </a:spcAft>
              <a:defRPr>
                <a:latin typeface="Arial"/>
              </a:defRPr>
            </a:pPr>
            <a:r>
              <a:rPr b="1" sz="1500">
                <a:solidFill>
                  <a:srgbClr val="000000"/>
                </a:solidFill>
                <a:latin typeface="Arial"/>
              </a:rPr>
              <a:t>• Final Problem Definition: </a:t>
            </a:r>
            <a:r>
              <a:rPr b="0" sz="1500">
                <a:solidFill>
                  <a:srgbClr val="1E1E1E"/>
                </a:solidFill>
                <a:latin typeface="Arial"/>
              </a:rPr>
              <a:t>Over 70 million deaf individuals worldwide experience acute daily communication disenfranchisement. Most existing ML tools are limited to static alphabet recognition or require computationally prohibitive 3D CNNs that cannot run in real time on standard consumer laptops.</a:t>
            </a:r>
          </a:p>
          <a:p>
            <a:pPr>
              <a:spcAft>
                <a:spcPts val="300"/>
              </a:spcAft>
              <a:defRPr>
                <a:latin typeface="Arial"/>
              </a:defRPr>
            </a:pPr>
            <a:r>
              <a:rPr b="1" sz="1500">
                <a:solidFill>
                  <a:srgbClr val="000000"/>
                </a:solidFill>
                <a:latin typeface="Arial"/>
              </a:rPr>
              <a:t>• Input → Output Clearly Defined:</a:t>
            </a:r>
          </a:p>
          <a:p>
            <a:pPr lvl="1">
              <a:spcAft>
                <a:spcPts val="200"/>
              </a:spcAft>
              <a:defRPr>
                <a:latin typeface="Arial"/>
              </a:defRPr>
            </a:pPr>
            <a:r>
              <a:rPr b="1" sz="1400">
                <a:solidFill>
                  <a:srgbClr val="000000"/>
                </a:solidFill>
                <a:latin typeface="Arial"/>
              </a:rPr>
              <a:t>  - Input: </a:t>
            </a:r>
            <a:r>
              <a:rPr b="0" sz="1400">
                <a:solidFill>
                  <a:srgbClr val="1E1E1E"/>
                </a:solidFill>
                <a:latin typeface="Arial"/>
              </a:rPr>
              <a:t>Live 30 FPS RGB webcam video stream capturing continuous dynamic American Sign Language gestures.</a:t>
            </a:r>
          </a:p>
          <a:p>
            <a:pPr lvl="1">
              <a:spcAft>
                <a:spcPts val="800"/>
              </a:spcAft>
              <a:defRPr>
                <a:latin typeface="Arial"/>
              </a:defRPr>
            </a:pPr>
            <a:r>
              <a:rPr b="1" sz="1400">
                <a:solidFill>
                  <a:srgbClr val="000000"/>
                </a:solidFill>
                <a:latin typeface="Arial"/>
              </a:rPr>
              <a:t>  - Output: </a:t>
            </a:r>
            <a:r>
              <a:rPr b="0" sz="1400">
                <a:solidFill>
                  <a:srgbClr val="1E1E1E"/>
                </a:solidFill>
                <a:latin typeface="Arial"/>
              </a:rPr>
              <a:t>Real-time predicted sign gloss token (Top-1 &amp; Top-5 candidate probabilities), natural English text transcription, and spoken audio synthesis.</a:t>
            </a:r>
          </a:p>
          <a:p>
            <a:pPr>
              <a:spcAft>
                <a:spcPts val="300"/>
              </a:spcAft>
              <a:defRPr>
                <a:latin typeface="Arial"/>
              </a:defRPr>
            </a:pPr>
            <a:r>
              <a:rPr b="1" sz="1500">
                <a:solidFill>
                  <a:srgbClr val="000000"/>
                </a:solidFill>
                <a:latin typeface="Arial"/>
              </a:rPr>
              <a:t>• Real-World Use Cases:</a:t>
            </a:r>
          </a:p>
          <a:p>
            <a:pPr lvl="1">
              <a:spcAft>
                <a:spcPts val="200"/>
              </a:spcAft>
              <a:defRPr>
                <a:latin typeface="Arial"/>
              </a:defRPr>
            </a:pPr>
            <a:r>
              <a:rPr b="1" sz="1350">
                <a:solidFill>
                  <a:srgbClr val="000000"/>
                </a:solidFill>
                <a:latin typeface="Arial"/>
              </a:rPr>
              <a:t>  1. Healthcare &amp; Telehealth: </a:t>
            </a:r>
            <a:r>
              <a:rPr b="0" sz="1350">
                <a:solidFill>
                  <a:srgbClr val="1E1E1E"/>
                </a:solidFill>
                <a:latin typeface="Arial"/>
              </a:rPr>
              <a:t>Emergency medical consultations and clinical triages without delay.</a:t>
            </a:r>
          </a:p>
          <a:p>
            <a:pPr lvl="1">
              <a:spcAft>
                <a:spcPts val="200"/>
              </a:spcAft>
              <a:defRPr>
                <a:latin typeface="Arial"/>
              </a:defRPr>
            </a:pPr>
            <a:r>
              <a:rPr b="1" sz="1350">
                <a:solidFill>
                  <a:srgbClr val="000000"/>
                </a:solidFill>
                <a:latin typeface="Arial"/>
              </a:rPr>
              <a:t>  2. Educational Classrooms: </a:t>
            </a:r>
            <a:r>
              <a:rPr b="0" sz="1350">
                <a:solidFill>
                  <a:srgbClr val="1E1E1E"/>
                </a:solidFill>
                <a:latin typeface="Arial"/>
              </a:rPr>
              <a:t>Automated lecture transcription and interactive sign learning visualizer.</a:t>
            </a:r>
          </a:p>
          <a:p>
            <a:pPr lvl="1">
              <a:spcAft>
                <a:spcPts val="400"/>
              </a:spcAft>
              <a:defRPr>
                <a:latin typeface="Arial"/>
              </a:defRPr>
            </a:pPr>
            <a:r>
              <a:rPr b="1" sz="1350">
                <a:solidFill>
                  <a:srgbClr val="000000"/>
                </a:solidFill>
                <a:latin typeface="Arial"/>
              </a:rPr>
              <a:t>  3. Public Service Counters: </a:t>
            </a:r>
            <a:r>
              <a:rPr b="0" sz="1350">
                <a:solidFill>
                  <a:srgbClr val="1E1E1E"/>
                </a:solidFill>
                <a:latin typeface="Arial"/>
              </a:rPr>
              <a:t>Barrier-free communication at banks, airports, and civic offices.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65760"/>
            <a:ext cx="8046720" cy="822960"/>
          </a:xfrm>
          <a:prstGeom prst="rect">
            <a:avLst/>
          </a:prstGeom>
          <a:noFill/>
        </p:spPr>
        <p:txBody>
          <a:bodyPr wrap="square">
            <a:spAutoFit/>
          </a:bodyPr>
          <a:lstStyle/>
          <a:p>
            <a:pPr algn="ctr">
              <a:defRPr sz="2800" b="1">
                <a:solidFill>
                  <a:srgbClr val="000000"/>
                </a:solidFill>
                <a:latin typeface="Arial"/>
              </a:defRPr>
            </a:pPr>
            <a:r>
              <a:t>Dataset Details</a:t>
            </a:r>
          </a:p>
        </p:txBody>
      </p:sp>
      <p:sp>
        <p:nvSpPr>
          <p:cNvPr id="3" name="TextBox 2"/>
          <p:cNvSpPr txBox="1"/>
          <p:nvPr/>
        </p:nvSpPr>
        <p:spPr>
          <a:xfrm>
            <a:off x="731520" y="1188720"/>
            <a:ext cx="7680960" cy="5303520"/>
          </a:xfrm>
          <a:prstGeom prst="rect">
            <a:avLst/>
          </a:prstGeom>
          <a:noFill/>
        </p:spPr>
        <p:txBody>
          <a:bodyPr wrap="square" tIns="91440" bIns="91440">
            <a:spAutoFit/>
          </a:bodyPr>
          <a:lstStyle/>
          <a:p>
            <a:pPr>
              <a:spcAft>
                <a:spcPts val="600"/>
              </a:spcAft>
              <a:defRPr>
                <a:latin typeface="Arial"/>
              </a:defRPr>
            </a:pPr>
            <a:r>
              <a:rPr b="1" sz="1500">
                <a:solidFill>
                  <a:srgbClr val="000000"/>
                </a:solidFill>
                <a:latin typeface="Arial"/>
              </a:rPr>
              <a:t>• Dataset Source: </a:t>
            </a:r>
            <a:r>
              <a:rPr b="0" sz="1500">
                <a:solidFill>
                  <a:srgbClr val="1E1E1E"/>
                </a:solidFill>
                <a:latin typeface="Arial"/>
              </a:rPr>
              <a:t>World-Level American Sign Language (WLASL v0.3) benchmark dataset collected by Li et al. (CVPR/WACV 2020) from 119 diverse signers across public online repositories.</a:t>
            </a:r>
          </a:p>
          <a:p>
            <a:pPr>
              <a:spcAft>
                <a:spcPts val="300"/>
              </a:spcAft>
              <a:defRPr>
                <a:latin typeface="Arial"/>
              </a:defRPr>
            </a:pPr>
            <a:r>
              <a:rPr b="1" sz="1500">
                <a:solidFill>
                  <a:srgbClr val="000000"/>
                </a:solidFill>
                <a:latin typeface="Arial"/>
              </a:rPr>
              <a:t>• Number of Samples &amp; Partitions (WLASL-100 Benchmark):</a:t>
            </a:r>
          </a:p>
          <a:p>
            <a:pPr lvl="1">
              <a:spcAft>
                <a:spcPts val="200"/>
              </a:spcAft>
              <a:defRPr>
                <a:latin typeface="Arial"/>
              </a:defRPr>
            </a:pPr>
            <a:r>
              <a:rPr b="1" sz="1400">
                <a:solidFill>
                  <a:srgbClr val="000000"/>
                </a:solidFill>
                <a:latin typeface="Arial"/>
              </a:rPr>
              <a:t>  - Total Raw Video Clips: </a:t>
            </a:r>
            <a:r>
              <a:rPr b="0" sz="1400">
                <a:solidFill>
                  <a:srgbClr val="1E1E1E"/>
                </a:solidFill>
                <a:latin typeface="Arial"/>
              </a:rPr>
              <a:t>2,038 video samples across 100 core conversational sign classes.</a:t>
            </a:r>
          </a:p>
          <a:p>
            <a:pPr lvl="1">
              <a:spcAft>
                <a:spcPts val="200"/>
              </a:spcAft>
              <a:defRPr>
                <a:latin typeface="Arial"/>
              </a:defRPr>
            </a:pPr>
            <a:r>
              <a:rPr b="1" sz="1400">
                <a:solidFill>
                  <a:srgbClr val="000000"/>
                </a:solidFill>
                <a:latin typeface="Arial"/>
              </a:rPr>
              <a:t>  - Training Set (70%): </a:t>
            </a:r>
            <a:r>
              <a:rPr b="0" sz="1400">
                <a:solidFill>
                  <a:srgbClr val="1E1E1E"/>
                </a:solidFill>
                <a:latin typeface="Arial"/>
              </a:rPr>
              <a:t>1,426 samples used for supervised model optimization.</a:t>
            </a:r>
          </a:p>
          <a:p>
            <a:pPr lvl="1">
              <a:spcAft>
                <a:spcPts val="200"/>
              </a:spcAft>
              <a:defRPr>
                <a:latin typeface="Arial"/>
              </a:defRPr>
            </a:pPr>
            <a:r>
              <a:rPr b="1" sz="1400">
                <a:solidFill>
                  <a:srgbClr val="000000"/>
                </a:solidFill>
                <a:latin typeface="Arial"/>
              </a:rPr>
              <a:t>  - Validation Set (15%): </a:t>
            </a:r>
            <a:r>
              <a:rPr b="0" sz="1400">
                <a:solidFill>
                  <a:srgbClr val="1E1E1E"/>
                </a:solidFill>
                <a:latin typeface="Arial"/>
              </a:rPr>
              <a:t>296 samples for hyperparameter tuning and model checkpointing.</a:t>
            </a:r>
          </a:p>
          <a:p>
            <a:pPr lvl="1">
              <a:spcAft>
                <a:spcPts val="600"/>
              </a:spcAft>
              <a:defRPr>
                <a:latin typeface="Arial"/>
              </a:defRPr>
            </a:pPr>
            <a:r>
              <a:rPr b="1" sz="1400">
                <a:solidFill>
                  <a:srgbClr val="000000"/>
                </a:solidFill>
                <a:latin typeface="Arial"/>
              </a:rPr>
              <a:t>  - Test Set (15%): </a:t>
            </a:r>
            <a:r>
              <a:rPr b="0" sz="1400">
                <a:solidFill>
                  <a:srgbClr val="1E1E1E"/>
                </a:solidFill>
                <a:latin typeface="Arial"/>
              </a:rPr>
              <a:t>316 samples held out for rigorous final generalization benchmarking.</a:t>
            </a:r>
          </a:p>
          <a:p>
            <a:pPr>
              <a:spcAft>
                <a:spcPts val="300"/>
              </a:spcAft>
              <a:defRPr>
                <a:latin typeface="Arial"/>
              </a:defRPr>
            </a:pPr>
            <a:r>
              <a:rPr b="1" sz="1500">
                <a:solidFill>
                  <a:srgbClr val="000000"/>
                </a:solidFill>
                <a:latin typeface="Arial"/>
              </a:rPr>
              <a:t>• Feature Description &amp; Data Snapshot:</a:t>
            </a:r>
          </a:p>
          <a:p>
            <a:pPr lvl="1">
              <a:spcAft>
                <a:spcPts val="200"/>
              </a:spcAft>
              <a:defRPr>
                <a:latin typeface="Arial"/>
              </a:defRPr>
            </a:pPr>
            <a:r>
              <a:rPr b="1" sz="1400">
                <a:solidFill>
                  <a:srgbClr val="000000"/>
                </a:solidFill>
                <a:latin typeface="Arial"/>
              </a:rPr>
              <a:t>  - Feature Vector: </a:t>
            </a:r>
            <a:r>
              <a:rPr b="0" sz="1400">
                <a:solidFill>
                  <a:srgbClr val="1E1E1E"/>
                </a:solidFill>
                <a:latin typeface="Arial"/>
              </a:rPr>
              <a:t>225 numerical floats per frame (Pose 75, Left Hand 63, Right Hand 63, Lips 24).</a:t>
            </a:r>
          </a:p>
          <a:p>
            <a:pPr lvl="1">
              <a:spcAft>
                <a:spcPts val="400"/>
              </a:spcAft>
              <a:defRPr>
                <a:latin typeface="Arial"/>
              </a:defRPr>
            </a:pPr>
            <a:r>
              <a:rPr b="1" sz="1400">
                <a:solidFill>
                  <a:srgbClr val="000000"/>
                </a:solidFill>
                <a:latin typeface="Arial"/>
              </a:rPr>
              <a:t>  - Temporal Window: </a:t>
            </a:r>
            <a:r>
              <a:rPr b="0" sz="1400">
                <a:solidFill>
                  <a:srgbClr val="1E1E1E"/>
                </a:solidFill>
                <a:latin typeface="Arial"/>
              </a:rPr>
              <a:t>Sequences resampled to fixed window T = 60 frames; tensor shape (N, 60, 225).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65760"/>
            <a:ext cx="8046720" cy="822960"/>
          </a:xfrm>
          <a:prstGeom prst="rect">
            <a:avLst/>
          </a:prstGeom>
          <a:noFill/>
        </p:spPr>
        <p:txBody>
          <a:bodyPr wrap="square">
            <a:spAutoFit/>
          </a:bodyPr>
          <a:lstStyle/>
          <a:p>
            <a:pPr algn="ctr">
              <a:defRPr sz="2800" b="1">
                <a:solidFill>
                  <a:srgbClr val="000000"/>
                </a:solidFill>
                <a:latin typeface="Arial"/>
              </a:defRPr>
            </a:pPr>
            <a:r>
              <a:t>Data Understanding</a:t>
            </a:r>
          </a:p>
        </p:txBody>
      </p:sp>
      <p:sp>
        <p:nvSpPr>
          <p:cNvPr id="3" name="TextBox 2"/>
          <p:cNvSpPr txBox="1"/>
          <p:nvPr/>
        </p:nvSpPr>
        <p:spPr>
          <a:xfrm>
            <a:off x="731520" y="1188720"/>
            <a:ext cx="7680960" cy="5303520"/>
          </a:xfrm>
          <a:prstGeom prst="rect">
            <a:avLst/>
          </a:prstGeom>
          <a:noFill/>
        </p:spPr>
        <p:txBody>
          <a:bodyPr wrap="square" tIns="91440" bIns="91440">
            <a:spAutoFit/>
          </a:bodyPr>
          <a:lstStyle/>
          <a:p>
            <a:pPr>
              <a:spcAft>
                <a:spcPts val="300"/>
              </a:spcAft>
              <a:defRPr>
                <a:latin typeface="Arial"/>
              </a:defRPr>
            </a:pPr>
            <a:r>
              <a:rPr b="1" sz="1500">
                <a:solidFill>
                  <a:srgbClr val="000000"/>
                </a:solidFill>
                <a:latin typeface="Arial"/>
              </a:rPr>
              <a:t>• Types of Data:</a:t>
            </a:r>
          </a:p>
          <a:p>
            <a:pPr lvl="1">
              <a:spcAft>
                <a:spcPts val="300"/>
              </a:spcAft>
              <a:defRPr>
                <a:latin typeface="Arial"/>
              </a:defRPr>
            </a:pPr>
            <a:r>
              <a:rPr b="1" sz="1400">
                <a:solidFill>
                  <a:srgbClr val="000000"/>
                </a:solidFill>
                <a:latin typeface="Arial"/>
              </a:rPr>
              <a:t>  - Continuous Numerical Features: </a:t>
            </a:r>
            <a:r>
              <a:rPr b="0" sz="1400">
                <a:solidFill>
                  <a:srgbClr val="1E1E1E"/>
                </a:solidFill>
                <a:latin typeface="Arial"/>
              </a:rPr>
              <a:t>Normalized 3D Cartesian coordinates (x, y, z) representing human skeletal and hand joints.</a:t>
            </a:r>
          </a:p>
          <a:p>
            <a:pPr lvl="1">
              <a:spcAft>
                <a:spcPts val="600"/>
              </a:spcAft>
              <a:defRPr>
                <a:latin typeface="Arial"/>
              </a:defRPr>
            </a:pPr>
            <a:r>
              <a:rPr b="1" sz="1400">
                <a:solidFill>
                  <a:srgbClr val="000000"/>
                </a:solidFill>
                <a:latin typeface="Arial"/>
              </a:rPr>
              <a:t>  - Categorical Target Labels: </a:t>
            </a:r>
            <a:r>
              <a:rPr b="0" sz="1400">
                <a:solidFill>
                  <a:srgbClr val="1E1E1E"/>
                </a:solidFill>
                <a:latin typeface="Arial"/>
              </a:rPr>
              <a:t>100 discrete vocabulary classes (e.g., 'hello', 'mother', 'drink', 'help', 'walk').</a:t>
            </a:r>
          </a:p>
          <a:p>
            <a:pPr>
              <a:spcAft>
                <a:spcPts val="300"/>
              </a:spcAft>
              <a:defRPr>
                <a:latin typeface="Arial"/>
              </a:defRPr>
            </a:pPr>
            <a:r>
              <a:rPr b="1" sz="1500">
                <a:solidFill>
                  <a:srgbClr val="000000"/>
                </a:solidFill>
                <a:latin typeface="Arial"/>
              </a:rPr>
              <a:t>• Missing Values &amp; Occlusion Handling:</a:t>
            </a:r>
          </a:p>
          <a:p>
            <a:pPr lvl="1">
              <a:spcAft>
                <a:spcPts val="300"/>
              </a:spcAft>
              <a:defRPr>
                <a:latin typeface="Arial"/>
              </a:defRPr>
            </a:pPr>
            <a:r>
              <a:rPr b="1" sz="1400">
                <a:solidFill>
                  <a:srgbClr val="000000"/>
                </a:solidFill>
                <a:latin typeface="Arial"/>
              </a:rPr>
              <a:t>  - Hand Occlusion &amp; Out-of-Frame Signs: </a:t>
            </a:r>
            <a:r>
              <a:rPr b="0" sz="1400">
                <a:solidFill>
                  <a:srgbClr val="1E1E1E"/>
                </a:solidFill>
                <a:latin typeface="Arial"/>
              </a:rPr>
              <a:t>During rapid signing, hand keypoints drop to (0,0,0) or null when hands drop below camera frame.</a:t>
            </a:r>
          </a:p>
          <a:p>
            <a:pPr lvl="1">
              <a:spcAft>
                <a:spcPts val="600"/>
              </a:spcAft>
              <a:defRPr>
                <a:latin typeface="Arial"/>
              </a:defRPr>
            </a:pPr>
            <a:r>
              <a:rPr b="1" sz="1400">
                <a:solidFill>
                  <a:srgbClr val="000000"/>
                </a:solidFill>
                <a:latin typeface="Arial"/>
              </a:rPr>
              <a:t>  - Mitigation Strategy: </a:t>
            </a:r>
            <a:r>
              <a:rPr b="0" sz="1400">
                <a:solidFill>
                  <a:srgbClr val="1E1E1E"/>
                </a:solidFill>
                <a:latin typeface="Arial"/>
              </a:rPr>
              <a:t>Linear temporal interpolation computes smooth trajectory paths between adjacent valid frames.</a:t>
            </a:r>
          </a:p>
          <a:p>
            <a:pPr>
              <a:spcAft>
                <a:spcPts val="300"/>
              </a:spcAft>
              <a:defRPr>
                <a:latin typeface="Arial"/>
              </a:defRPr>
            </a:pPr>
            <a:r>
              <a:rPr b="1" sz="1500">
                <a:solidFill>
                  <a:srgbClr val="000000"/>
                </a:solidFill>
                <a:latin typeface="Arial"/>
              </a:rPr>
              <a:t>• Data Distribution Insights:</a:t>
            </a:r>
          </a:p>
          <a:p>
            <a:pPr lvl="1">
              <a:spcAft>
                <a:spcPts val="300"/>
              </a:spcAft>
              <a:defRPr>
                <a:latin typeface="Arial"/>
              </a:defRPr>
            </a:pPr>
            <a:r>
              <a:rPr b="1" sz="1400">
                <a:solidFill>
                  <a:srgbClr val="000000"/>
                </a:solidFill>
                <a:latin typeface="Arial"/>
              </a:rPr>
              <a:t>  - Video Duration Variance: </a:t>
            </a:r>
            <a:r>
              <a:rPr b="0" sz="1400">
                <a:solidFill>
                  <a:srgbClr val="1E1E1E"/>
                </a:solidFill>
                <a:latin typeface="Arial"/>
              </a:rPr>
              <a:t>Sign clips range from 15 frames (quick signs like 'no') to 90+ frames (compound signs like 'thank you').</a:t>
            </a:r>
          </a:p>
          <a:p>
            <a:pPr lvl="1">
              <a:spcAft>
                <a:spcPts val="400"/>
              </a:spcAft>
              <a:defRPr>
                <a:latin typeface="Arial"/>
              </a:defRPr>
            </a:pPr>
            <a:r>
              <a:rPr b="1" sz="1400">
                <a:solidFill>
                  <a:srgbClr val="000000"/>
                </a:solidFill>
                <a:latin typeface="Arial"/>
              </a:rPr>
              <a:t>  - Natural Sample Imbalance: </a:t>
            </a:r>
            <a:r>
              <a:rPr b="0" sz="1400">
                <a:solidFill>
                  <a:srgbClr val="1E1E1E"/>
                </a:solidFill>
                <a:latin typeface="Arial"/>
              </a:rPr>
              <a:t>Sample count per gloss varies between 12 and 35 clips across the 100 classes.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65760"/>
            <a:ext cx="8046720" cy="822960"/>
          </a:xfrm>
          <a:prstGeom prst="rect">
            <a:avLst/>
          </a:prstGeom>
          <a:noFill/>
        </p:spPr>
        <p:txBody>
          <a:bodyPr wrap="square">
            <a:spAutoFit/>
          </a:bodyPr>
          <a:lstStyle/>
          <a:p>
            <a:pPr algn="ctr">
              <a:defRPr sz="2800" b="1">
                <a:solidFill>
                  <a:srgbClr val="000000"/>
                </a:solidFill>
                <a:latin typeface="Arial"/>
              </a:defRPr>
            </a:pPr>
            <a:r>
              <a:t>Preprocessing Plan</a:t>
            </a:r>
          </a:p>
        </p:txBody>
      </p:sp>
      <p:sp>
        <p:nvSpPr>
          <p:cNvPr id="3" name="TextBox 2"/>
          <p:cNvSpPr txBox="1"/>
          <p:nvPr/>
        </p:nvSpPr>
        <p:spPr>
          <a:xfrm>
            <a:off x="731520" y="1188720"/>
            <a:ext cx="7680960" cy="5303520"/>
          </a:xfrm>
          <a:prstGeom prst="rect">
            <a:avLst/>
          </a:prstGeom>
          <a:noFill/>
        </p:spPr>
        <p:txBody>
          <a:bodyPr wrap="square" tIns="91440" bIns="91440">
            <a:spAutoFit/>
          </a:bodyPr>
          <a:lstStyle/>
          <a:p>
            <a:pPr>
              <a:spcAft>
                <a:spcPts val="300"/>
              </a:spcAft>
              <a:defRPr>
                <a:latin typeface="Arial"/>
              </a:defRPr>
            </a:pPr>
            <a:r>
              <a:rPr b="1" sz="1500">
                <a:solidFill>
                  <a:srgbClr val="000000"/>
                </a:solidFill>
                <a:latin typeface="Arial"/>
              </a:rPr>
              <a:t>• Step 1: Handling Missing Values &amp; Sequence Uniformity:</a:t>
            </a:r>
          </a:p>
          <a:p>
            <a:pPr lvl="1">
              <a:spcAft>
                <a:spcPts val="600"/>
              </a:spcAft>
              <a:defRPr>
                <a:latin typeface="Arial"/>
              </a:defRPr>
            </a:pPr>
            <a:r>
              <a:rPr b="1" sz="1400">
                <a:solidFill>
                  <a:srgbClr val="000000"/>
                </a:solidFill>
                <a:latin typeface="Arial"/>
              </a:rPr>
              <a:t>  - Linear Spline Resampling: </a:t>
            </a:r>
            <a:r>
              <a:rPr b="0" sz="1400">
                <a:solidFill>
                  <a:srgbClr val="1E1E1E"/>
                </a:solidFill>
                <a:latin typeface="Arial"/>
              </a:rPr>
              <a:t>Linearly interpolate dropped frames and resample all video sequences to a standardized length of T = 60 frames.</a:t>
            </a:r>
          </a:p>
          <a:p>
            <a:pPr>
              <a:spcAft>
                <a:spcPts val="300"/>
              </a:spcAft>
              <a:defRPr>
                <a:latin typeface="Arial"/>
              </a:defRPr>
            </a:pPr>
            <a:r>
              <a:rPr b="1" sz="1500">
                <a:solidFill>
                  <a:srgbClr val="000000"/>
                </a:solidFill>
                <a:latin typeface="Arial"/>
              </a:rPr>
              <a:t>• Step 2: Categorical Target Encoding:</a:t>
            </a:r>
          </a:p>
          <a:p>
            <a:pPr lvl="1">
              <a:spcAft>
                <a:spcPts val="300"/>
              </a:spcAft>
              <a:defRPr>
                <a:latin typeface="Arial"/>
              </a:defRPr>
            </a:pPr>
            <a:r>
              <a:rPr b="1" sz="1400">
                <a:solidFill>
                  <a:srgbClr val="000000"/>
                </a:solidFill>
                <a:latin typeface="Arial"/>
              </a:rPr>
              <a:t>  - Vocabulary Mapping: </a:t>
            </a:r>
            <a:r>
              <a:rPr b="0" sz="1400">
                <a:solidFill>
                  <a:srgbClr val="1E1E1E"/>
                </a:solidFill>
                <a:latin typeface="Arial"/>
              </a:rPr>
              <a:t>Mapped 100 class strings to discrete integer indices (0 to 99) stored in classes.json.</a:t>
            </a:r>
          </a:p>
          <a:p>
            <a:pPr lvl="1">
              <a:spcAft>
                <a:spcPts val="600"/>
              </a:spcAft>
              <a:defRPr>
                <a:latin typeface="Arial"/>
              </a:defRPr>
            </a:pPr>
            <a:r>
              <a:rPr b="1" sz="1400">
                <a:solidFill>
                  <a:srgbClr val="000000"/>
                </a:solidFill>
                <a:latin typeface="Arial"/>
              </a:rPr>
              <a:t>  - One-Hot Vector Transformation: </a:t>
            </a:r>
            <a:r>
              <a:rPr b="0" sz="1400">
                <a:solidFill>
                  <a:srgbClr val="1E1E1E"/>
                </a:solidFill>
                <a:latin typeface="Arial"/>
              </a:rPr>
              <a:t>Converted integer targets to shape (100,) for categorical cross-entropy loss computation.</a:t>
            </a:r>
          </a:p>
          <a:p>
            <a:pPr>
              <a:spcAft>
                <a:spcPts val="300"/>
              </a:spcAft>
              <a:defRPr>
                <a:latin typeface="Arial"/>
              </a:defRPr>
            </a:pPr>
            <a:r>
              <a:rPr b="1" sz="1500">
                <a:solidFill>
                  <a:srgbClr val="000000"/>
                </a:solidFill>
                <a:latin typeface="Arial"/>
              </a:rPr>
              <a:t>• Step 3: Geometric Invariant Normalization:</a:t>
            </a:r>
          </a:p>
          <a:p>
            <a:pPr lvl="1">
              <a:spcAft>
                <a:spcPts val="300"/>
              </a:spcAft>
              <a:defRPr>
                <a:latin typeface="Arial"/>
              </a:defRPr>
            </a:pPr>
            <a:r>
              <a:rPr b="1" sz="1400">
                <a:solidFill>
                  <a:srgbClr val="000000"/>
                </a:solidFill>
                <a:latin typeface="Arial"/>
              </a:rPr>
              <a:t>  - 1. Origin Translation: </a:t>
            </a:r>
            <a:r>
              <a:rPr b="0" sz="1400">
                <a:solidFill>
                  <a:srgbClr val="1E1E1E"/>
                </a:solidFill>
                <a:latin typeface="Arial"/>
              </a:rPr>
              <a:t>x' = x - x_nose, y' = y - y_nose, z' = z - z_nose (anchored to nose landmark 0).</a:t>
            </a:r>
          </a:p>
          <a:p>
            <a:pPr lvl="1">
              <a:spcAft>
                <a:spcPts val="400"/>
              </a:spcAft>
              <a:defRPr>
                <a:latin typeface="Arial"/>
              </a:defRPr>
            </a:pPr>
            <a:r>
              <a:rPr b="1" sz="1400">
                <a:solidFill>
                  <a:srgbClr val="000000"/>
                </a:solidFill>
                <a:latin typeface="Arial"/>
              </a:rPr>
              <a:t>  - 2. Euclidean Scale Invariance: </a:t>
            </a:r>
            <a:r>
              <a:rPr b="0" sz="1400">
                <a:solidFill>
                  <a:srgbClr val="1E1E1E"/>
                </a:solidFill>
                <a:latin typeface="Arial"/>
              </a:rPr>
              <a:t>p'' = x' / (||p_R_shoulder - p_L_shoulder|| + ε) (invariant to user distance and body height).</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65760"/>
            <a:ext cx="8046720" cy="822960"/>
          </a:xfrm>
          <a:prstGeom prst="rect">
            <a:avLst/>
          </a:prstGeom>
          <a:noFill/>
        </p:spPr>
        <p:txBody>
          <a:bodyPr wrap="none">
            <a:spAutoFit/>
          </a:bodyPr>
          <a:lstStyle/>
          <a:p>
            <a:pPr algn="ctr">
              <a:defRPr sz="2800" b="1">
                <a:latin typeface="Arial"/>
              </a:defRPr>
            </a:pPr>
            <a:r>
              <a:t>System Block Diagram</a:t>
            </a:r>
          </a:p>
        </p:txBody>
      </p:sp>
      <p:pic>
        <p:nvPicPr>
          <p:cNvPr id="3" name="Picture 2" descr="fig1_system_workflow.png"/>
          <p:cNvPicPr>
            <a:picLocks noChangeAspect="1"/>
          </p:cNvPicPr>
          <p:nvPr/>
        </p:nvPicPr>
        <p:blipFill>
          <a:blip r:embed="rId2"/>
          <a:stretch>
            <a:fillRect/>
          </a:stretch>
        </p:blipFill>
        <p:spPr>
          <a:xfrm>
            <a:off x="548640" y="1188720"/>
            <a:ext cx="8046720" cy="3931920"/>
          </a:xfrm>
          <a:prstGeom prst="rect">
            <a:avLst/>
          </a:prstGeom>
        </p:spPr>
      </p:pic>
      <p:sp>
        <p:nvSpPr>
          <p:cNvPr id="4" name="TextBox 3"/>
          <p:cNvSpPr txBox="1"/>
          <p:nvPr/>
        </p:nvSpPr>
        <p:spPr>
          <a:xfrm>
            <a:off x="548640" y="5212080"/>
            <a:ext cx="8046720" cy="1371600"/>
          </a:xfrm>
          <a:prstGeom prst="rect">
            <a:avLst/>
          </a:prstGeom>
          <a:noFill/>
        </p:spPr>
        <p:txBody>
          <a:bodyPr wrap="square">
            <a:spAutoFit/>
          </a:bodyPr>
          <a:lstStyle/>
          <a:p>
            <a:pPr>
              <a:spcAft>
                <a:spcPts val="200"/>
              </a:spcAft>
              <a:defRPr>
                <a:latin typeface="Arial"/>
              </a:defRPr>
            </a:pPr>
            <a:r>
              <a:rPr b="1" sz="1300">
                <a:solidFill>
                  <a:srgbClr val="000000"/>
                </a:solidFill>
                <a:latin typeface="Arial"/>
              </a:rPr>
              <a:t>• Input Stage: </a:t>
            </a:r>
            <a:r>
              <a:rPr b="0" sz="1300">
                <a:solidFill>
                  <a:srgbClr val="1E1E1E"/>
                </a:solidFill>
                <a:latin typeface="Arial"/>
              </a:rPr>
              <a:t>Live 30 FPS RGB webcam video stream.</a:t>
            </a:r>
          </a:p>
          <a:p>
            <a:pPr>
              <a:spcAft>
                <a:spcPts val="200"/>
              </a:spcAft>
              <a:defRPr>
                <a:latin typeface="Arial"/>
              </a:defRPr>
            </a:pPr>
            <a:r>
              <a:rPr b="1" sz="1300">
                <a:solidFill>
                  <a:srgbClr val="000000"/>
                </a:solidFill>
                <a:latin typeface="Arial"/>
              </a:rPr>
              <a:t>• Processing Stage: </a:t>
            </a:r>
            <a:r>
              <a:rPr b="0" sz="1300">
                <a:solidFill>
                  <a:srgbClr val="1E1E1E"/>
                </a:solidFill>
                <a:latin typeface="Arial"/>
              </a:rPr>
              <a:t>MediaPipe Holistic landmark extraction → Origin centering → Shoulder scaling → T=60 temporal resampling.</a:t>
            </a:r>
          </a:p>
          <a:p>
            <a:pPr>
              <a:spcAft>
                <a:spcPts val="200"/>
              </a:spcAft>
              <a:defRPr>
                <a:latin typeface="Arial"/>
              </a:defRPr>
            </a:pPr>
            <a:r>
              <a:rPr b="1" sz="1300">
                <a:solidFill>
                  <a:srgbClr val="000000"/>
                </a:solidFill>
                <a:latin typeface="Arial"/>
              </a:rPr>
              <a:t>• Model &amp; Output Stage: </a:t>
            </a:r>
            <a:r>
              <a:rPr b="0" sz="1300">
                <a:solidFill>
                  <a:srgbClr val="1E1E1E"/>
                </a:solidFill>
                <a:latin typeface="Arial"/>
              </a:rPr>
              <a:t>BiLSTM / Neural Ensemble classification → Top-5 predictions → Live transcription tape &amp; Web Speech TTS.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65760"/>
            <a:ext cx="8046720" cy="822960"/>
          </a:xfrm>
          <a:prstGeom prst="rect">
            <a:avLst/>
          </a:prstGeom>
          <a:noFill/>
        </p:spPr>
        <p:txBody>
          <a:bodyPr wrap="square">
            <a:spAutoFit/>
          </a:bodyPr>
          <a:lstStyle/>
          <a:p>
            <a:pPr algn="ctr">
              <a:defRPr sz="2800" b="1">
                <a:solidFill>
                  <a:srgbClr val="000000"/>
                </a:solidFill>
                <a:latin typeface="Arial"/>
              </a:defRPr>
            </a:pPr>
            <a:r>
              <a:t>UML Diagrams</a:t>
            </a:r>
          </a:p>
        </p:txBody>
      </p:sp>
      <p:sp>
        <p:nvSpPr>
          <p:cNvPr id="3" name="TextBox 2"/>
          <p:cNvSpPr txBox="1"/>
          <p:nvPr/>
        </p:nvSpPr>
        <p:spPr>
          <a:xfrm>
            <a:off x="731520" y="1188720"/>
            <a:ext cx="7680960" cy="5303520"/>
          </a:xfrm>
          <a:prstGeom prst="rect">
            <a:avLst/>
          </a:prstGeom>
          <a:noFill/>
        </p:spPr>
        <p:txBody>
          <a:bodyPr wrap="square" tIns="91440" bIns="91440">
            <a:spAutoFit/>
          </a:bodyPr>
          <a:lstStyle/>
          <a:p>
            <a:pPr>
              <a:spcAft>
                <a:spcPts val="300"/>
              </a:spcAft>
              <a:defRPr>
                <a:latin typeface="Arial"/>
              </a:defRPr>
            </a:pPr>
            <a:r>
              <a:rPr b="1" sz="1500">
                <a:solidFill>
                  <a:srgbClr val="000000"/>
                </a:solidFill>
                <a:latin typeface="Arial"/>
              </a:rPr>
              <a:t>• Use Case Diagram (System Interactions):</a:t>
            </a:r>
          </a:p>
          <a:p>
            <a:pPr lvl="1">
              <a:spcAft>
                <a:spcPts val="200"/>
              </a:spcAft>
              <a:defRPr>
                <a:latin typeface="Arial"/>
              </a:defRPr>
            </a:pPr>
            <a:r>
              <a:rPr b="1" sz="1400">
                <a:solidFill>
                  <a:srgbClr val="000000"/>
                </a:solidFill>
                <a:latin typeface="Arial"/>
              </a:rPr>
              <a:t>  - Primary Actors: </a:t>
            </a:r>
            <a:r>
              <a:rPr b="0" sz="1400">
                <a:solidFill>
                  <a:srgbClr val="1E1E1E"/>
                </a:solidFill>
                <a:latin typeface="Arial"/>
              </a:rPr>
              <a:t>Deaf Signer, Hearing User, Healthcare/Educator Facilitator.</a:t>
            </a:r>
          </a:p>
          <a:p>
            <a:pPr lvl="1">
              <a:spcAft>
                <a:spcPts val="600"/>
              </a:spcAft>
              <a:defRPr>
                <a:latin typeface="Arial"/>
              </a:defRPr>
            </a:pPr>
            <a:r>
              <a:rPr b="1" sz="1350">
                <a:solidFill>
                  <a:srgbClr val="000000"/>
                </a:solidFill>
                <a:latin typeface="Arial"/>
              </a:rPr>
              <a:t>  - Core Use Cases: </a:t>
            </a:r>
            <a:r>
              <a:rPr b="0" sz="1350">
                <a:solidFill>
                  <a:srgbClr val="1E1E1E"/>
                </a:solidFill>
                <a:latin typeface="Arial"/>
              </a:rPr>
              <a:t>1. Stream Live Webcam Video | 2. Recognize ASL Gesture | 3. Display Top-5 Predictions | 4. Play Spoken Audio (TTS) | 5. Upload Video File for Transcription | 6. Type English Sentence for 3D Sign Synthesis | 7. Browse 2,000 Sign Vocabulary.</a:t>
            </a:r>
          </a:p>
          <a:p>
            <a:pPr>
              <a:spcAft>
                <a:spcPts val="300"/>
              </a:spcAft>
              <a:defRPr>
                <a:latin typeface="Arial"/>
              </a:defRPr>
            </a:pPr>
            <a:r>
              <a:rPr b="1" sz="1500">
                <a:solidFill>
                  <a:srgbClr val="000000"/>
                </a:solidFill>
                <a:latin typeface="Arial"/>
              </a:rPr>
              <a:t>• Activity Diagram (Execution Flow):</a:t>
            </a:r>
          </a:p>
          <a:p>
            <a:pPr lvl="1">
              <a:spcAft>
                <a:spcPts val="200"/>
              </a:spcAft>
              <a:defRPr>
                <a:latin typeface="Arial"/>
              </a:defRPr>
            </a:pPr>
            <a:r>
              <a:rPr b="1" sz="1350">
                <a:solidFill>
                  <a:srgbClr val="000000"/>
                </a:solidFill>
                <a:latin typeface="Arial"/>
              </a:rPr>
              <a:t>  - Step 1 (Initialization): </a:t>
            </a:r>
            <a:r>
              <a:rPr b="0" sz="1350">
                <a:solidFill>
                  <a:srgbClr val="1E1E1E"/>
                </a:solidFill>
                <a:latin typeface="Arial"/>
              </a:rPr>
              <a:t>User opens web studio; browser requests camera permissions and initializes MediaPipe Holistic worker.</a:t>
            </a:r>
          </a:p>
          <a:p>
            <a:pPr lvl="1">
              <a:spcAft>
                <a:spcPts val="200"/>
              </a:spcAft>
              <a:defRPr>
                <a:latin typeface="Arial"/>
              </a:defRPr>
            </a:pPr>
            <a:r>
              <a:rPr b="1" sz="1350">
                <a:solidFill>
                  <a:srgbClr val="000000"/>
                </a:solidFill>
                <a:latin typeface="Arial"/>
              </a:rPr>
              <a:t>  - Step 2 (Perception): </a:t>
            </a:r>
            <a:r>
              <a:rPr b="0" sz="1350">
                <a:solidFill>
                  <a:srgbClr val="1E1E1E"/>
                </a:solidFill>
                <a:latin typeface="Arial"/>
              </a:rPr>
              <a:t>Extract 225 landmarks per frame at 30 FPS; append into 60-frame rolling sliding buffer.</a:t>
            </a:r>
          </a:p>
          <a:p>
            <a:pPr lvl="1">
              <a:spcAft>
                <a:spcPts val="200"/>
              </a:spcAft>
              <a:defRPr>
                <a:latin typeface="Arial"/>
              </a:defRPr>
            </a:pPr>
            <a:r>
              <a:rPr b="1" sz="1350">
                <a:solidFill>
                  <a:srgbClr val="000000"/>
                </a:solidFill>
                <a:latin typeface="Arial"/>
              </a:rPr>
              <a:t>  - Step 3 (Inference &amp; Gate): </a:t>
            </a:r>
            <a:r>
              <a:rPr b="0" sz="1350">
                <a:solidFill>
                  <a:srgbClr val="1E1E1E"/>
                </a:solidFill>
                <a:latin typeface="Arial"/>
              </a:rPr>
              <a:t>POST normalized tensor to /api/predict; verify confidence &gt; 0.60 threshold.</a:t>
            </a:r>
          </a:p>
          <a:p>
            <a:pPr lvl="1">
              <a:spcAft>
                <a:spcPts val="400"/>
              </a:spcAft>
              <a:defRPr>
                <a:latin typeface="Arial"/>
              </a:defRPr>
            </a:pPr>
            <a:r>
              <a:rPr b="1" sz="1350">
                <a:solidFill>
                  <a:srgbClr val="000000"/>
                </a:solidFill>
                <a:latin typeface="Arial"/>
              </a:rPr>
              <a:t>  - Step 4 (Presentation): </a:t>
            </a:r>
            <a:r>
              <a:rPr b="0" sz="1350">
                <a:solidFill>
                  <a:srgbClr val="1E1E1E"/>
                </a:solidFill>
                <a:latin typeface="Arial"/>
              </a:rPr>
              <a:t>Append recognized sign token to live transcription tape; synthesize spoken English audio via Web Speech API.</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65760"/>
            <a:ext cx="8046720" cy="822960"/>
          </a:xfrm>
          <a:prstGeom prst="rect">
            <a:avLst/>
          </a:prstGeom>
          <a:noFill/>
        </p:spPr>
        <p:txBody>
          <a:bodyPr wrap="square">
            <a:spAutoFit/>
          </a:bodyPr>
          <a:lstStyle/>
          <a:p>
            <a:pPr algn="ctr">
              <a:defRPr sz="2800" b="1">
                <a:solidFill>
                  <a:srgbClr val="000000"/>
                </a:solidFill>
                <a:latin typeface="Arial"/>
              </a:defRPr>
            </a:pPr>
            <a:r>
              <a:t>Algorithm Selection</a:t>
            </a:r>
          </a:p>
        </p:txBody>
      </p:sp>
      <p:sp>
        <p:nvSpPr>
          <p:cNvPr id="3" name="TextBox 2"/>
          <p:cNvSpPr txBox="1"/>
          <p:nvPr/>
        </p:nvSpPr>
        <p:spPr>
          <a:xfrm>
            <a:off x="731520" y="1188720"/>
            <a:ext cx="7680960" cy="5303520"/>
          </a:xfrm>
          <a:prstGeom prst="rect">
            <a:avLst/>
          </a:prstGeom>
          <a:noFill/>
        </p:spPr>
        <p:txBody>
          <a:bodyPr wrap="square" tIns="91440" bIns="91440">
            <a:spAutoFit/>
          </a:bodyPr>
          <a:lstStyle/>
          <a:p>
            <a:pPr>
              <a:spcAft>
                <a:spcPts val="300"/>
              </a:spcAft>
              <a:defRPr>
                <a:latin typeface="Arial"/>
              </a:defRPr>
            </a:pPr>
            <a:r>
              <a:rPr b="1" sz="1500">
                <a:solidFill>
                  <a:srgbClr val="000000"/>
                </a:solidFill>
                <a:latin typeface="Arial"/>
              </a:rPr>
              <a:t>• Algorithms Shortlisted for Comparison:</a:t>
            </a:r>
          </a:p>
          <a:p>
            <a:pPr lvl="1">
              <a:spcAft>
                <a:spcPts val="200"/>
              </a:spcAft>
              <a:defRPr>
                <a:latin typeface="Arial"/>
              </a:defRPr>
            </a:pPr>
            <a:r>
              <a:rPr b="1" sz="1400">
                <a:solidFill>
                  <a:srgbClr val="000000"/>
                </a:solidFill>
                <a:latin typeface="Arial"/>
              </a:rPr>
              <a:t>  1. 1D Convolutional Neural Network (1D-CNN): </a:t>
            </a:r>
            <a:r>
              <a:rPr b="0" sz="1400">
                <a:solidFill>
                  <a:srgbClr val="1E1E1E"/>
                </a:solidFill>
                <a:latin typeface="Arial"/>
              </a:rPr>
              <a:t>Fast temporal convolutions, but lacks gating mechanisms to model long-range gesture context.</a:t>
            </a:r>
          </a:p>
          <a:p>
            <a:pPr lvl="1">
              <a:spcAft>
                <a:spcPts val="200"/>
              </a:spcAft>
              <a:defRPr>
                <a:latin typeface="Arial"/>
              </a:defRPr>
            </a:pPr>
            <a:r>
              <a:rPr b="1" sz="1400">
                <a:solidFill>
                  <a:srgbClr val="000000"/>
                </a:solidFill>
                <a:latin typeface="Arial"/>
              </a:rPr>
              <a:t>  2. Unidirectional Gated Recurrent Unit (GRU): </a:t>
            </a:r>
            <a:r>
              <a:rPr b="0" sz="1400">
                <a:solidFill>
                  <a:srgbClr val="1E1E1E"/>
                </a:solidFill>
                <a:latin typeface="Arial"/>
              </a:rPr>
              <a:t>Fewer parameters than LSTM, but misses backwards trajectory context.</a:t>
            </a:r>
          </a:p>
          <a:p>
            <a:pPr lvl="1">
              <a:spcAft>
                <a:spcPts val="200"/>
              </a:spcAft>
              <a:defRPr>
                <a:latin typeface="Arial"/>
              </a:defRPr>
            </a:pPr>
            <a:r>
              <a:rPr b="1" sz="1400">
                <a:solidFill>
                  <a:srgbClr val="000000"/>
                </a:solidFill>
                <a:latin typeface="Arial"/>
              </a:rPr>
              <a:t>  3. Bidirectional LSTM (BiLSTM): </a:t>
            </a:r>
            <a:r>
              <a:rPr b="0" sz="1400">
                <a:solidFill>
                  <a:srgbClr val="1E1E1E"/>
                </a:solidFill>
                <a:latin typeface="Arial"/>
              </a:rPr>
              <a:t>Selected Baseline! Captures past and future trajectory dependencies simultaneously across 60 frames.</a:t>
            </a:r>
          </a:p>
          <a:p>
            <a:pPr lvl="1">
              <a:spcAft>
                <a:spcPts val="600"/>
              </a:spcAft>
              <a:defRPr>
                <a:latin typeface="Arial"/>
              </a:defRPr>
            </a:pPr>
            <a:r>
              <a:rPr b="1" sz="1400">
                <a:solidFill>
                  <a:srgbClr val="000000"/>
                </a:solidFill>
                <a:latin typeface="Arial"/>
              </a:rPr>
              <a:t>  4. Spatial-Temporal Transformer: </a:t>
            </a:r>
            <a:r>
              <a:rPr b="0" sz="1400">
                <a:solidFill>
                  <a:srgbClr val="1E1E1E"/>
                </a:solidFill>
                <a:latin typeface="Arial"/>
              </a:rPr>
              <a:t>Multi-head self-attention captures global non-adjacent keyframe relationships.</a:t>
            </a:r>
          </a:p>
          <a:p>
            <a:pPr>
              <a:spcAft>
                <a:spcPts val="600"/>
              </a:spcAft>
              <a:defRPr>
                <a:latin typeface="Arial"/>
              </a:defRPr>
            </a:pPr>
            <a:r>
              <a:rPr b="1" sz="1400">
                <a:solidFill>
                  <a:srgbClr val="000000"/>
                </a:solidFill>
                <a:latin typeface="Arial"/>
              </a:rPr>
              <a:t>• Reason for Choosing BiLSTM as Phase-1 Baseline: </a:t>
            </a:r>
            <a:r>
              <a:rPr b="0" sz="1400">
                <a:solidFill>
                  <a:srgbClr val="1E1E1E"/>
                </a:solidFill>
                <a:latin typeface="Arial"/>
              </a:rPr>
              <a:t>Sign language gestures are non-causal: the identity of a handshape at frame 10 depends fundamentally on where the hand lands at frame 50. BiLSTM processes the 60-frame sequence both forward and backward, capturing smooth continuous trajectory transitions.</a:t>
            </a:r>
          </a:p>
          <a:p>
            <a:pPr>
              <a:spcAft>
                <a:spcPts val="400"/>
              </a:spcAft>
              <a:defRPr>
                <a:latin typeface="Arial"/>
              </a:defRPr>
            </a:pPr>
            <a:r>
              <a:rPr b="1" sz="1400">
                <a:solidFill>
                  <a:srgbClr val="000000"/>
                </a:solidFill>
                <a:latin typeface="Arial"/>
              </a:rPr>
              <a:t>• Baseline Model Architecture: </a:t>
            </a:r>
            <a:r>
              <a:rPr b="0" sz="1400">
                <a:solidFill>
                  <a:srgbClr val="1E1E1E"/>
                </a:solidFill>
                <a:latin typeface="Arial"/>
              </a:rPr>
              <a:t>2 stacked BiLSTM layers (128 units/dir = 256 per layer) + Batch Normalization + Recurrent Dropout (0.4) + Dense (128, ReLU) + Softmax (100 classes).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65760"/>
            <a:ext cx="8046720" cy="822960"/>
          </a:xfrm>
          <a:prstGeom prst="rect">
            <a:avLst/>
          </a:prstGeom>
          <a:noFill/>
        </p:spPr>
        <p:txBody>
          <a:bodyPr wrap="square">
            <a:spAutoFit/>
          </a:bodyPr>
          <a:lstStyle/>
          <a:p>
            <a:pPr algn="ctr">
              <a:defRPr sz="2800" b="1">
                <a:solidFill>
                  <a:srgbClr val="000000"/>
                </a:solidFill>
                <a:latin typeface="Arial"/>
              </a:defRPr>
            </a:pPr>
            <a:r>
              <a:t>Feature Selection</a:t>
            </a:r>
          </a:p>
        </p:txBody>
      </p:sp>
      <p:sp>
        <p:nvSpPr>
          <p:cNvPr id="3" name="TextBox 2"/>
          <p:cNvSpPr txBox="1"/>
          <p:nvPr/>
        </p:nvSpPr>
        <p:spPr>
          <a:xfrm>
            <a:off x="731520" y="1188720"/>
            <a:ext cx="7680960" cy="5303520"/>
          </a:xfrm>
          <a:prstGeom prst="rect">
            <a:avLst/>
          </a:prstGeom>
          <a:noFill/>
        </p:spPr>
        <p:txBody>
          <a:bodyPr wrap="square" tIns="91440" bIns="91440">
            <a:spAutoFit/>
          </a:bodyPr>
          <a:lstStyle/>
          <a:p>
            <a:pPr>
              <a:spcAft>
                <a:spcPts val="300"/>
              </a:spcAft>
              <a:defRPr>
                <a:latin typeface="Arial"/>
              </a:defRPr>
            </a:pPr>
            <a:r>
              <a:rPr b="1" sz="1500">
                <a:solidFill>
                  <a:srgbClr val="000000"/>
                </a:solidFill>
                <a:latin typeface="Arial"/>
              </a:rPr>
              <a:t>• Selected Features (225 Coordinates per Frame):</a:t>
            </a:r>
          </a:p>
          <a:p>
            <a:pPr lvl="1">
              <a:spcAft>
                <a:spcPts val="200"/>
              </a:spcAft>
              <a:defRPr>
                <a:latin typeface="Arial"/>
              </a:defRPr>
            </a:pPr>
            <a:r>
              <a:rPr b="1" sz="1400">
                <a:solidFill>
                  <a:srgbClr val="000000"/>
                </a:solidFill>
                <a:latin typeface="Arial"/>
              </a:rPr>
              <a:t>  - Upper Body Pose Skeleton: </a:t>
            </a:r>
            <a:r>
              <a:rPr b="0" sz="1400">
                <a:solidFill>
                  <a:srgbClr val="1E1E1E"/>
                </a:solidFill>
                <a:latin typeface="Arial"/>
              </a:rPr>
              <a:t>25 landmarks × 3 (x, y, z) = 75 dimensions (nose, eyes, shoulders, elbows, wrists).</a:t>
            </a:r>
          </a:p>
          <a:p>
            <a:pPr lvl="1">
              <a:spcAft>
                <a:spcPts val="200"/>
              </a:spcAft>
              <a:defRPr>
                <a:latin typeface="Arial"/>
              </a:defRPr>
            </a:pPr>
            <a:r>
              <a:rPr b="1" sz="1400">
                <a:solidFill>
                  <a:srgbClr val="000000"/>
                </a:solidFill>
                <a:latin typeface="Arial"/>
              </a:rPr>
              <a:t>  - Left Hand Articulation: </a:t>
            </a:r>
            <a:r>
              <a:rPr b="0" sz="1400">
                <a:solidFill>
                  <a:srgbClr val="1E1E1E"/>
                </a:solidFill>
                <a:latin typeface="Arial"/>
              </a:rPr>
              <a:t>21 joints × 3 (x, y, z) = 63 dimensions (wrist, thumb, index, middle, ring, pinky).</a:t>
            </a:r>
          </a:p>
          <a:p>
            <a:pPr lvl="1">
              <a:spcAft>
                <a:spcPts val="200"/>
              </a:spcAft>
              <a:defRPr>
                <a:latin typeface="Arial"/>
              </a:defRPr>
            </a:pPr>
            <a:r>
              <a:rPr b="1" sz="1400">
                <a:solidFill>
                  <a:srgbClr val="000000"/>
                </a:solidFill>
                <a:latin typeface="Arial"/>
              </a:rPr>
              <a:t>  - Right Hand Articulation: </a:t>
            </a:r>
            <a:r>
              <a:rPr b="0" sz="1400">
                <a:solidFill>
                  <a:srgbClr val="1E1E1E"/>
                </a:solidFill>
                <a:latin typeface="Arial"/>
              </a:rPr>
              <a:t>21 joints × 3 (x, y, z) = 63 dimensions.</a:t>
            </a:r>
          </a:p>
          <a:p>
            <a:pPr lvl="1">
              <a:spcAft>
                <a:spcPts val="600"/>
              </a:spcAft>
              <a:defRPr>
                <a:latin typeface="Arial"/>
              </a:defRPr>
            </a:pPr>
            <a:r>
              <a:rPr b="1" sz="1400">
                <a:solidFill>
                  <a:srgbClr val="000000"/>
                </a:solidFill>
                <a:latin typeface="Arial"/>
              </a:rPr>
              <a:t>  - Lip Non-Manual Contours: </a:t>
            </a:r>
            <a:r>
              <a:rPr b="0" sz="1400">
                <a:solidFill>
                  <a:srgbClr val="1E1E1E"/>
                </a:solidFill>
                <a:latin typeface="Arial"/>
              </a:rPr>
              <a:t>8 mouth landmarks × 3 (x, y, z) = 24 dimensions.</a:t>
            </a:r>
          </a:p>
          <a:p>
            <a:pPr>
              <a:spcAft>
                <a:spcPts val="300"/>
              </a:spcAft>
              <a:defRPr>
                <a:latin typeface="Arial"/>
              </a:defRPr>
            </a:pPr>
            <a:r>
              <a:rPr b="1" sz="1500">
                <a:solidFill>
                  <a:srgbClr val="000000"/>
                </a:solidFill>
                <a:latin typeface="Arial"/>
              </a:rPr>
              <a:t>• Technical Justification:</a:t>
            </a:r>
          </a:p>
          <a:p>
            <a:pPr lvl="1">
              <a:spcAft>
                <a:spcPts val="200"/>
              </a:spcAft>
              <a:defRPr>
                <a:latin typeface="Arial"/>
              </a:defRPr>
            </a:pPr>
            <a:r>
              <a:rPr b="1" sz="1400">
                <a:solidFill>
                  <a:srgbClr val="000000"/>
                </a:solidFill>
                <a:latin typeface="Arial"/>
              </a:rPr>
              <a:t>  - 99.8% Dimensionality Reduction: </a:t>
            </a:r>
            <a:r>
              <a:rPr b="0" sz="1400">
                <a:solidFill>
                  <a:srgbClr val="1E1E1E"/>
                </a:solidFill>
                <a:latin typeface="Arial"/>
              </a:rPr>
              <a:t>Compresses a 1080p RGB frame (~6.2 MB) into a 225-float vector (~900 bytes), enabling real-time CPU inference.</a:t>
            </a:r>
          </a:p>
          <a:p>
            <a:pPr lvl="1">
              <a:spcAft>
                <a:spcPts val="600"/>
              </a:spcAft>
              <a:defRPr>
                <a:latin typeface="Arial"/>
              </a:defRPr>
            </a:pPr>
            <a:r>
              <a:rPr b="1" sz="1400">
                <a:solidFill>
                  <a:srgbClr val="000000"/>
                </a:solidFill>
                <a:latin typeface="Arial"/>
              </a:rPr>
              <a:t>  - Invariant to Appearance: </a:t>
            </a:r>
            <a:r>
              <a:rPr b="0" sz="1400">
                <a:solidFill>
                  <a:srgbClr val="1E1E1E"/>
                </a:solidFill>
                <a:latin typeface="Arial"/>
              </a:rPr>
              <a:t>Completely eliminates background clutter, clothing patterns, lighting changes, and skin tone bias.</a:t>
            </a:r>
          </a:p>
          <a:p>
            <a:pPr>
              <a:spcAft>
                <a:spcPts val="400"/>
              </a:spcAft>
              <a:defRPr>
                <a:latin typeface="Arial"/>
              </a:defRPr>
            </a:pPr>
            <a:r>
              <a:rPr b="1" sz="1400">
                <a:solidFill>
                  <a:srgbClr val="000000"/>
                </a:solidFill>
                <a:latin typeface="Arial"/>
              </a:rPr>
              <a:t>• Domain Knowledge Applied: </a:t>
            </a:r>
            <a:r>
              <a:rPr b="0" sz="1400">
                <a:solidFill>
                  <a:srgbClr val="1E1E1E"/>
                </a:solidFill>
                <a:latin typeface="Arial"/>
              </a:rPr>
              <a:t>Lower-body landmarks (hips, knees, ankles, feet) carry zero linguistic information in ASL and were strictly removed. Non-manual lip markers were explicitly added to disambiguate minimal pairs sharing identical hand motions.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65760"/>
            <a:ext cx="8046720" cy="822960"/>
          </a:xfrm>
          <a:prstGeom prst="rect">
            <a:avLst/>
          </a:prstGeom>
          <a:noFill/>
        </p:spPr>
        <p:txBody>
          <a:bodyPr wrap="square">
            <a:spAutoFit/>
          </a:bodyPr>
          <a:lstStyle/>
          <a:p>
            <a:pPr algn="ctr">
              <a:defRPr sz="2800" b="1">
                <a:solidFill>
                  <a:srgbClr val="000000"/>
                </a:solidFill>
                <a:latin typeface="Arial"/>
              </a:defRPr>
            </a:pPr>
            <a:r>
              <a:t>Evaluation Metrics for Project</a:t>
            </a:r>
          </a:p>
        </p:txBody>
      </p:sp>
      <p:sp>
        <p:nvSpPr>
          <p:cNvPr id="3" name="TextBox 2"/>
          <p:cNvSpPr txBox="1"/>
          <p:nvPr/>
        </p:nvSpPr>
        <p:spPr>
          <a:xfrm>
            <a:off x="731520" y="1188720"/>
            <a:ext cx="7680960" cy="5303520"/>
          </a:xfrm>
          <a:prstGeom prst="rect">
            <a:avLst/>
          </a:prstGeom>
          <a:noFill/>
        </p:spPr>
        <p:txBody>
          <a:bodyPr wrap="square" tIns="91440" bIns="91440">
            <a:spAutoFit/>
          </a:bodyPr>
          <a:lstStyle/>
          <a:p>
            <a:pPr>
              <a:spcAft>
                <a:spcPts val="300"/>
              </a:spcAft>
              <a:defRPr>
                <a:latin typeface="Arial"/>
              </a:defRPr>
            </a:pPr>
            <a:r>
              <a:rPr b="1" sz="1500">
                <a:solidFill>
                  <a:srgbClr val="000000"/>
                </a:solidFill>
                <a:latin typeface="Arial"/>
              </a:rPr>
              <a:t>• Primary Evaluation Metrics Selected:</a:t>
            </a:r>
          </a:p>
          <a:p>
            <a:pPr lvl="1">
              <a:spcAft>
                <a:spcPts val="200"/>
              </a:spcAft>
              <a:defRPr>
                <a:latin typeface="Arial"/>
              </a:defRPr>
            </a:pPr>
            <a:r>
              <a:rPr b="1" sz="1400">
                <a:solidFill>
                  <a:srgbClr val="000000"/>
                </a:solidFill>
                <a:latin typeface="Arial"/>
              </a:rPr>
              <a:t>  1. Top-1 Categorical Accuracy: </a:t>
            </a:r>
            <a:r>
              <a:rPr b="0" sz="1400">
                <a:solidFill>
                  <a:srgbClr val="1E1E1E"/>
                </a:solidFill>
                <a:latin typeface="Arial"/>
              </a:rPr>
              <a:t>Percentage of test video clips where the highest-probability prediction exactly matches ground truth.</a:t>
            </a:r>
          </a:p>
          <a:p>
            <a:pPr lvl="1">
              <a:spcAft>
                <a:spcPts val="200"/>
              </a:spcAft>
              <a:defRPr>
                <a:latin typeface="Arial"/>
              </a:defRPr>
            </a:pPr>
            <a:r>
              <a:rPr b="1" sz="1400">
                <a:solidFill>
                  <a:srgbClr val="000000"/>
                </a:solidFill>
                <a:latin typeface="Arial"/>
              </a:rPr>
              <a:t>  2. Top-5 Categorical Accuracy: </a:t>
            </a:r>
            <a:r>
              <a:rPr b="0" sz="1400">
                <a:solidFill>
                  <a:srgbClr val="1E1E1E"/>
                </a:solidFill>
                <a:latin typeface="Arial"/>
              </a:rPr>
              <a:t>Percentage of clips where the true class is among the top 5 predicted candidates.</a:t>
            </a:r>
          </a:p>
          <a:p>
            <a:pPr lvl="1">
              <a:spcAft>
                <a:spcPts val="200"/>
              </a:spcAft>
              <a:defRPr>
                <a:latin typeface="Arial"/>
              </a:defRPr>
            </a:pPr>
            <a:r>
              <a:rPr b="1" sz="1400">
                <a:solidFill>
                  <a:srgbClr val="000000"/>
                </a:solidFill>
                <a:latin typeface="Arial"/>
              </a:rPr>
              <a:t>  3. Macro Precision &amp; Recall: </a:t>
            </a:r>
            <a:r>
              <a:rPr b="0" sz="1400">
                <a:solidFill>
                  <a:srgbClr val="1E1E1E"/>
                </a:solidFill>
                <a:latin typeface="Arial"/>
              </a:rPr>
              <a:t>Averages precision and recall independently across all 100 classes regardless of frequency.</a:t>
            </a:r>
          </a:p>
          <a:p>
            <a:pPr lvl="1">
              <a:spcAft>
                <a:spcPts val="200"/>
              </a:spcAft>
              <a:defRPr>
                <a:latin typeface="Arial"/>
              </a:defRPr>
            </a:pPr>
            <a:r>
              <a:rPr b="1" sz="1400">
                <a:solidFill>
                  <a:srgbClr val="000000"/>
                </a:solidFill>
                <a:latin typeface="Arial"/>
              </a:rPr>
              <a:t>  4. Macro F1-Score: </a:t>
            </a:r>
            <a:r>
              <a:rPr b="0" sz="1400">
                <a:solidFill>
                  <a:srgbClr val="1E1E1E"/>
                </a:solidFill>
                <a:latin typeface="Arial"/>
              </a:rPr>
              <a:t>Harmonic mean of precision and recall, balancing false positives and false negatives.</a:t>
            </a:r>
          </a:p>
          <a:p>
            <a:pPr lvl="1">
              <a:spcAft>
                <a:spcPts val="600"/>
              </a:spcAft>
              <a:defRPr>
                <a:latin typeface="Arial"/>
              </a:defRPr>
            </a:pPr>
            <a:r>
              <a:rPr b="1" sz="1400">
                <a:solidFill>
                  <a:srgbClr val="000000"/>
                </a:solidFill>
                <a:latin typeface="Arial"/>
              </a:rPr>
              <a:t>  5. Inference Latency (ms): </a:t>
            </a:r>
            <a:r>
              <a:rPr b="0" sz="1400">
                <a:solidFill>
                  <a:srgbClr val="1E1E1E"/>
                </a:solidFill>
                <a:latin typeface="Arial"/>
              </a:rPr>
              <a:t>Execution time per 60-frame prediction on standard consumer CPU.</a:t>
            </a:r>
          </a:p>
          <a:p>
            <a:pPr>
              <a:spcAft>
                <a:spcPts val="300"/>
              </a:spcAft>
              <a:defRPr>
                <a:latin typeface="Arial"/>
              </a:defRPr>
            </a:pPr>
            <a:r>
              <a:rPr b="1" sz="1500">
                <a:solidFill>
                  <a:srgbClr val="000000"/>
                </a:solidFill>
                <a:latin typeface="Arial"/>
              </a:rPr>
              <a:t>• Why These Metrics Were Chosen:</a:t>
            </a:r>
          </a:p>
          <a:p>
            <a:pPr lvl="1">
              <a:spcAft>
                <a:spcPts val="200"/>
              </a:spcAft>
              <a:defRPr>
                <a:latin typeface="Arial"/>
              </a:defRPr>
            </a:pPr>
            <a:r>
              <a:rPr b="1" sz="1400">
                <a:solidFill>
                  <a:srgbClr val="000000"/>
                </a:solidFill>
                <a:latin typeface="Arial"/>
              </a:rPr>
              <a:t>  - Multi-Class Granularity: </a:t>
            </a:r>
            <a:r>
              <a:rPr b="0" sz="1400">
                <a:solidFill>
                  <a:srgbClr val="1E1E1E"/>
                </a:solidFill>
                <a:latin typeface="Arial"/>
              </a:rPr>
              <a:t>In a 100-class open vocabulary, Top-5 accuracy directly reflects UI usability for candidate selection.</a:t>
            </a:r>
          </a:p>
          <a:p>
            <a:pPr lvl="1">
              <a:spcAft>
                <a:spcPts val="200"/>
              </a:spcAft>
              <a:defRPr>
                <a:latin typeface="Arial"/>
              </a:defRPr>
            </a:pPr>
            <a:r>
              <a:rPr b="1" sz="1400">
                <a:solidFill>
                  <a:srgbClr val="000000"/>
                </a:solidFill>
                <a:latin typeface="Arial"/>
              </a:rPr>
              <a:t>  - Robustness to Imbalance: </a:t>
            </a:r>
            <a:r>
              <a:rPr b="0" sz="1400">
                <a:solidFill>
                  <a:srgbClr val="1E1E1E"/>
                </a:solidFill>
                <a:latin typeface="Arial"/>
              </a:rPr>
              <a:t>Macro F1-Score prevents frequent classes from masking poor performance on rarer signs.</a:t>
            </a:r>
          </a:p>
          <a:p>
            <a:pPr lvl="1">
              <a:spcAft>
                <a:spcPts val="400"/>
              </a:spcAft>
              <a:defRPr>
                <a:latin typeface="Arial"/>
              </a:defRPr>
            </a:pPr>
            <a:r>
              <a:rPr b="1" sz="1400">
                <a:solidFill>
                  <a:srgbClr val="000000"/>
                </a:solidFill>
                <a:latin typeface="Arial"/>
              </a:rPr>
              <a:t>  - Real-Time Usability: </a:t>
            </a:r>
            <a:r>
              <a:rPr b="0" sz="1400">
                <a:solidFill>
                  <a:srgbClr val="1E1E1E"/>
                </a:solidFill>
                <a:latin typeface="Arial"/>
              </a:rPr>
              <a:t>Latency must remain under 100 ms to achieve smooth conversational interaction.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65760"/>
            <a:ext cx="8046720" cy="822960"/>
          </a:xfrm>
          <a:prstGeom prst="rect">
            <a:avLst/>
          </a:prstGeom>
          <a:noFill/>
        </p:spPr>
        <p:txBody>
          <a:bodyPr wrap="square">
            <a:spAutoFit/>
          </a:bodyPr>
          <a:lstStyle/>
          <a:p>
            <a:pPr algn="ctr">
              <a:defRPr sz="2800" b="1">
                <a:solidFill>
                  <a:srgbClr val="000000"/>
                </a:solidFill>
                <a:latin typeface="Arial"/>
              </a:defRPr>
            </a:pPr>
            <a:r>
              <a:t>Tools &amp; Technologies</a:t>
            </a:r>
          </a:p>
        </p:txBody>
      </p:sp>
      <p:sp>
        <p:nvSpPr>
          <p:cNvPr id="3" name="TextBox 2"/>
          <p:cNvSpPr txBox="1"/>
          <p:nvPr/>
        </p:nvSpPr>
        <p:spPr>
          <a:xfrm>
            <a:off x="731520" y="1188720"/>
            <a:ext cx="7680960" cy="5303520"/>
          </a:xfrm>
          <a:prstGeom prst="rect">
            <a:avLst/>
          </a:prstGeom>
          <a:noFill/>
        </p:spPr>
        <p:txBody>
          <a:bodyPr wrap="square" tIns="91440" bIns="91440">
            <a:spAutoFit/>
          </a:bodyPr>
          <a:lstStyle/>
          <a:p>
            <a:pPr>
              <a:spcAft>
                <a:spcPts val="600"/>
              </a:spcAft>
              <a:defRPr>
                <a:latin typeface="Arial"/>
              </a:defRPr>
            </a:pPr>
            <a:r>
              <a:rPr b="1" sz="1450">
                <a:solidFill>
                  <a:srgbClr val="000000"/>
                </a:solidFill>
                <a:latin typeface="Arial"/>
              </a:rPr>
              <a:t>• Programming Language: </a:t>
            </a:r>
            <a:r>
              <a:rPr b="0" sz="1450">
                <a:solidFill>
                  <a:srgbClr val="1E1E1E"/>
                </a:solidFill>
                <a:latin typeface="Arial"/>
              </a:rPr>
              <a:t>Python 3.11 (optimized for scientific computing and asynchronous IO).</a:t>
            </a:r>
          </a:p>
          <a:p>
            <a:pPr>
              <a:spcAft>
                <a:spcPts val="600"/>
              </a:spcAft>
              <a:defRPr>
                <a:latin typeface="Arial"/>
              </a:defRPr>
            </a:pPr>
            <a:r>
              <a:rPr b="1" sz="1450">
                <a:solidFill>
                  <a:srgbClr val="000000"/>
                </a:solidFill>
                <a:latin typeface="Arial"/>
              </a:rPr>
              <a:t>• Deep Learning Frameworks: </a:t>
            </a:r>
            <a:r>
              <a:rPr b="0" sz="1450">
                <a:solidFill>
                  <a:srgbClr val="1E1E1E"/>
                </a:solidFill>
                <a:latin typeface="Arial"/>
              </a:rPr>
              <a:t>TensorFlow 2.16 &amp; Keras 3.0 (recurrent layers, custom attention heads, GPU/CPU acceleration).</a:t>
            </a:r>
          </a:p>
          <a:p>
            <a:pPr>
              <a:spcAft>
                <a:spcPts val="600"/>
              </a:spcAft>
              <a:defRPr>
                <a:latin typeface="Arial"/>
              </a:defRPr>
            </a:pPr>
            <a:r>
              <a:rPr b="1" sz="1450">
                <a:solidFill>
                  <a:srgbClr val="000000"/>
                </a:solidFill>
                <a:latin typeface="Arial"/>
              </a:rPr>
              <a:t>• Computer Vision &amp; Perception: </a:t>
            </a:r>
            <a:r>
              <a:rPr b="0" sz="1450">
                <a:solidFill>
                  <a:srgbClr val="1E1E1E"/>
                </a:solidFill>
                <a:latin typeface="Arial"/>
              </a:rPr>
              <a:t>MediaPipe Holistic (v0.10.14) &amp; OpenCV 4.8 (real-time 30 FPS facial and hand tracking).</a:t>
            </a:r>
          </a:p>
          <a:p>
            <a:pPr>
              <a:spcAft>
                <a:spcPts val="600"/>
              </a:spcAft>
              <a:defRPr>
                <a:latin typeface="Arial"/>
              </a:defRPr>
            </a:pPr>
            <a:r>
              <a:rPr b="1" sz="1450">
                <a:solidFill>
                  <a:srgbClr val="000000"/>
                </a:solidFill>
                <a:latin typeface="Arial"/>
              </a:rPr>
              <a:t>• Numerical &amp; Data Processing: </a:t>
            </a:r>
            <a:r>
              <a:rPr b="0" sz="1450">
                <a:solidFill>
                  <a:srgbClr val="1E1E1E"/>
                </a:solidFill>
                <a:latin typeface="Arial"/>
              </a:rPr>
              <a:t>NumPy, Pandas, SciPy (multidimensional tensor manipulation and spline interpolation).</a:t>
            </a:r>
          </a:p>
          <a:p>
            <a:pPr>
              <a:spcAft>
                <a:spcPts val="600"/>
              </a:spcAft>
              <a:defRPr>
                <a:latin typeface="Arial"/>
              </a:defRPr>
            </a:pPr>
            <a:r>
              <a:rPr b="1" sz="1450">
                <a:solidFill>
                  <a:srgbClr val="000000"/>
                </a:solidFill>
                <a:latin typeface="Arial"/>
              </a:rPr>
              <a:t>• Web Framework &amp; Backend: </a:t>
            </a:r>
            <a:r>
              <a:rPr b="0" sz="1450">
                <a:solidFill>
                  <a:srgbClr val="1E1E1E"/>
                </a:solidFill>
                <a:latin typeface="Arial"/>
              </a:rPr>
              <a:t>Flask 3.0 &amp; Flask-CORS (REST API endpoints for real-time inference and motion delivery).</a:t>
            </a:r>
          </a:p>
          <a:p>
            <a:pPr>
              <a:spcAft>
                <a:spcPts val="600"/>
              </a:spcAft>
              <a:defRPr>
                <a:latin typeface="Arial"/>
              </a:defRPr>
            </a:pPr>
            <a:r>
              <a:rPr b="1" sz="1450">
                <a:solidFill>
                  <a:srgbClr val="000000"/>
                </a:solidFill>
                <a:latin typeface="Arial"/>
              </a:rPr>
              <a:t>• Frontend &amp; 3D Visualization: </a:t>
            </a:r>
            <a:r>
              <a:rPr b="0" sz="1450">
                <a:solidFill>
                  <a:srgbClr val="1E1E1E"/>
                </a:solidFill>
                <a:latin typeface="Arial"/>
              </a:rPr>
              <a:t>HTML5, CSS3, JavaScript (ES6), Three.js (r128 WebGL avatar rendering), Web Speech API (TTS).</a:t>
            </a:r>
          </a:p>
          <a:p>
            <a:pPr>
              <a:spcAft>
                <a:spcPts val="600"/>
              </a:spcAft>
              <a:defRPr>
                <a:latin typeface="Arial"/>
              </a:defRPr>
            </a:pPr>
            <a:r>
              <a:rPr b="1" sz="1450">
                <a:solidFill>
                  <a:srgbClr val="000000"/>
                </a:solidFill>
                <a:latin typeface="Arial"/>
              </a:rPr>
              <a:t>• Version Control &amp; Environment: </a:t>
            </a:r>
            <a:r>
              <a:rPr b="0" sz="1450">
                <a:solidFill>
                  <a:srgbClr val="1E1E1E"/>
                </a:solidFill>
                <a:latin typeface="Arial"/>
              </a:rPr>
              <a:t>Git, GitHub, virtualenv (sign_lang_env) on Windows 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65760"/>
            <a:ext cx="8046720" cy="822960"/>
          </a:xfrm>
          <a:prstGeom prst="rect">
            <a:avLst/>
          </a:prstGeom>
          <a:noFill/>
        </p:spPr>
        <p:txBody>
          <a:bodyPr wrap="square">
            <a:spAutoFit/>
          </a:bodyPr>
          <a:lstStyle/>
          <a:p>
            <a:pPr algn="ctr">
              <a:defRPr sz="2800" b="1">
                <a:solidFill>
                  <a:srgbClr val="000000"/>
                </a:solidFill>
                <a:latin typeface="Arial"/>
              </a:defRPr>
            </a:pPr>
            <a:r>
              <a:t>Initial Implementation</a:t>
            </a:r>
          </a:p>
        </p:txBody>
      </p:sp>
      <p:sp>
        <p:nvSpPr>
          <p:cNvPr id="3" name="TextBox 2"/>
          <p:cNvSpPr txBox="1"/>
          <p:nvPr/>
        </p:nvSpPr>
        <p:spPr>
          <a:xfrm>
            <a:off x="731520" y="1188720"/>
            <a:ext cx="7680960" cy="5303520"/>
          </a:xfrm>
          <a:prstGeom prst="rect">
            <a:avLst/>
          </a:prstGeom>
          <a:noFill/>
        </p:spPr>
        <p:txBody>
          <a:bodyPr wrap="square" tIns="91440" bIns="91440">
            <a:spAutoFit/>
          </a:bodyPr>
          <a:lstStyle/>
          <a:p>
            <a:pPr>
              <a:spcAft>
                <a:spcPts val="300"/>
              </a:spcAft>
              <a:defRPr>
                <a:latin typeface="Arial"/>
              </a:defRPr>
            </a:pPr>
            <a:r>
              <a:rPr b="1" sz="1500">
                <a:solidFill>
                  <a:srgbClr val="000000"/>
                </a:solidFill>
                <a:latin typeface="Arial"/>
              </a:rPr>
              <a:t>• Data Loaded Successfully:</a:t>
            </a:r>
          </a:p>
          <a:p>
            <a:pPr lvl="1">
              <a:spcAft>
                <a:spcPts val="200"/>
              </a:spcAft>
              <a:defRPr>
                <a:latin typeface="Arial"/>
              </a:defRPr>
            </a:pPr>
            <a:r>
              <a:rPr b="1" sz="1400">
                <a:solidFill>
                  <a:srgbClr val="000000"/>
                </a:solidFill>
                <a:latin typeface="Arial"/>
              </a:rPr>
              <a:t>  - Complete Feature Extraction: </a:t>
            </a:r>
            <a:r>
              <a:rPr b="0" sz="1400">
                <a:solidFill>
                  <a:srgbClr val="1E1E1E"/>
                </a:solidFill>
                <a:latin typeface="Arial"/>
              </a:rPr>
              <a:t>Processed all 2,038 raw WLASL-100 video clips into normalized numpy arrays.</a:t>
            </a:r>
          </a:p>
          <a:p>
            <a:pPr lvl="1">
              <a:spcAft>
                <a:spcPts val="600"/>
              </a:spcAft>
              <a:defRPr>
                <a:latin typeface="Arial"/>
              </a:defRPr>
            </a:pPr>
            <a:r>
              <a:rPr b="1" sz="1400">
                <a:solidFill>
                  <a:srgbClr val="000000"/>
                </a:solidFill>
                <a:latin typeface="Arial"/>
              </a:rPr>
              <a:t>  - Partitions Staged: </a:t>
            </a:r>
            <a:r>
              <a:rPr b="0" sz="1400">
                <a:solidFill>
                  <a:srgbClr val="1E1E1E"/>
                </a:solidFill>
                <a:latin typeface="Arial"/>
              </a:rPr>
              <a:t>Structured split directories for train (1,426 samples) and validation (296 samples).</a:t>
            </a:r>
          </a:p>
          <a:p>
            <a:pPr>
              <a:spcAft>
                <a:spcPts val="300"/>
              </a:spcAft>
              <a:defRPr>
                <a:latin typeface="Arial"/>
              </a:defRPr>
            </a:pPr>
            <a:r>
              <a:rPr b="1" sz="1500">
                <a:solidFill>
                  <a:srgbClr val="000000"/>
                </a:solidFill>
                <a:latin typeface="Arial"/>
              </a:rPr>
              <a:t>• Preprocessing Completed:</a:t>
            </a:r>
          </a:p>
          <a:p>
            <a:pPr lvl="1">
              <a:spcAft>
                <a:spcPts val="200"/>
              </a:spcAft>
              <a:defRPr>
                <a:latin typeface="Arial"/>
              </a:defRPr>
            </a:pPr>
            <a:r>
              <a:rPr b="1" sz="1400">
                <a:solidFill>
                  <a:srgbClr val="000000"/>
                </a:solidFill>
                <a:latin typeface="Arial"/>
              </a:rPr>
              <a:t>  - Applied nose-centering origin translation and Euclidean shoulder distance scale normalization.</a:t>
            </a:r>
          </a:p>
          <a:p>
            <a:pPr lvl="1">
              <a:spcAft>
                <a:spcPts val="600"/>
              </a:spcAft>
              <a:defRPr>
                <a:latin typeface="Arial"/>
              </a:defRPr>
            </a:pPr>
            <a:r>
              <a:rPr b="1" sz="1400">
                <a:solidFill>
                  <a:srgbClr val="000000"/>
                </a:solidFill>
                <a:latin typeface="Arial"/>
              </a:rPr>
              <a:t>  - Standardized all temporal gesture clips to uniform T = 60 frame windows.</a:t>
            </a:r>
          </a:p>
          <a:p>
            <a:pPr>
              <a:spcAft>
                <a:spcPts val="300"/>
              </a:spcAft>
              <a:defRPr>
                <a:latin typeface="Arial"/>
              </a:defRPr>
            </a:pPr>
            <a:r>
              <a:rPr b="1" sz="1500">
                <a:solidFill>
                  <a:srgbClr val="000000"/>
                </a:solidFill>
                <a:latin typeface="Arial"/>
              </a:rPr>
              <a:t>• Baseline Model Trained (Phase-1 Milestone):</a:t>
            </a:r>
          </a:p>
          <a:p>
            <a:pPr lvl="1">
              <a:spcAft>
                <a:spcPts val="200"/>
              </a:spcAft>
              <a:defRPr>
                <a:latin typeface="Arial"/>
              </a:defRPr>
            </a:pPr>
            <a:r>
              <a:rPr b="1" sz="1400">
                <a:solidFill>
                  <a:srgbClr val="000000"/>
                </a:solidFill>
                <a:latin typeface="Arial"/>
              </a:rPr>
              <a:t>  - 2-layer stacked Bidirectional LSTM trained for 40 epochs with Adam optimizer (lr = 1e-3, cosine decay).</a:t>
            </a:r>
          </a:p>
          <a:p>
            <a:pPr lvl="1">
              <a:spcAft>
                <a:spcPts val="200"/>
              </a:spcAft>
              <a:defRPr>
                <a:latin typeface="Arial"/>
              </a:defRPr>
            </a:pPr>
            <a:r>
              <a:rPr b="1" sz="1400">
                <a:solidFill>
                  <a:srgbClr val="000000"/>
                </a:solidFill>
                <a:latin typeface="Arial"/>
              </a:rPr>
              <a:t>  - Model weights compiled and saved to bilstm_wlasl_100.h5 (5.28 MB footprint).</a:t>
            </a:r>
          </a:p>
          <a:p>
            <a:pPr lvl="1">
              <a:spcAft>
                <a:spcPts val="400"/>
              </a:spcAft>
              <a:defRPr>
                <a:latin typeface="Arial"/>
              </a:defRPr>
            </a:pPr>
            <a:r>
              <a:rPr b="1" sz="1400">
                <a:solidFill>
                  <a:srgbClr val="000000"/>
                </a:solidFill>
                <a:latin typeface="Arial"/>
              </a:rPr>
              <a:t>  - Verified end-to-end inference connectivity with live webcam stream.</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65760"/>
            <a:ext cx="8046720" cy="822960"/>
          </a:xfrm>
          <a:prstGeom prst="rect">
            <a:avLst/>
          </a:prstGeom>
          <a:noFill/>
        </p:spPr>
        <p:txBody>
          <a:bodyPr wrap="none">
            <a:spAutoFit/>
          </a:bodyPr>
          <a:lstStyle/>
          <a:p>
            <a:pPr algn="ctr">
              <a:defRPr sz="2800" b="1">
                <a:latin typeface="Arial"/>
              </a:defRPr>
            </a:pPr>
            <a:r>
              <a:t>Initial Results</a:t>
            </a:r>
          </a:p>
        </p:txBody>
      </p:sp>
      <p:pic>
        <p:nvPicPr>
          <p:cNvPr id="3" name="Picture 2" descr="fig3_confusion_matrix.png"/>
          <p:cNvPicPr>
            <a:picLocks noChangeAspect="1"/>
          </p:cNvPicPr>
          <p:nvPr/>
        </p:nvPicPr>
        <p:blipFill>
          <a:blip r:embed="rId2"/>
          <a:stretch>
            <a:fillRect/>
          </a:stretch>
        </p:blipFill>
        <p:spPr>
          <a:xfrm>
            <a:off x="457200" y="1188720"/>
            <a:ext cx="4114800" cy="2743200"/>
          </a:xfrm>
          <a:prstGeom prst="rect">
            <a:avLst/>
          </a:prstGeom>
        </p:spPr>
      </p:pic>
      <p:sp>
        <p:nvSpPr>
          <p:cNvPr id="4" name="TextBox 3"/>
          <p:cNvSpPr txBox="1"/>
          <p:nvPr/>
        </p:nvSpPr>
        <p:spPr>
          <a:xfrm>
            <a:off x="4754880" y="1188720"/>
            <a:ext cx="3931920" cy="2743200"/>
          </a:xfrm>
          <a:prstGeom prst="rect">
            <a:avLst/>
          </a:prstGeom>
          <a:noFill/>
        </p:spPr>
        <p:txBody>
          <a:bodyPr wrap="square">
            <a:spAutoFit/>
          </a:bodyPr>
          <a:lstStyle/>
          <a:p>
            <a:pPr>
              <a:spcAft>
                <a:spcPts val="200"/>
              </a:spcAft>
              <a:defRPr>
                <a:latin typeface="Arial"/>
              </a:defRPr>
            </a:pPr>
            <a:r>
              <a:rPr b="1" sz="1400">
                <a:solidFill>
                  <a:srgbClr val="000000"/>
                </a:solidFill>
                <a:latin typeface="Arial"/>
              </a:rPr>
              <a:t>• Baseline BiLSTM Metrics:</a:t>
            </a:r>
          </a:p>
          <a:p>
            <a:pPr lvl="1">
              <a:spcAft>
                <a:spcPts val="100"/>
              </a:spcAft>
              <a:defRPr>
                <a:latin typeface="Arial"/>
              </a:defRPr>
            </a:pPr>
            <a:r>
              <a:rPr b="1" sz="1300">
                <a:solidFill>
                  <a:srgbClr val="000000"/>
                </a:solidFill>
                <a:latin typeface="Arial"/>
              </a:rPr>
              <a:t>  - Top-1 Validation Acc: </a:t>
            </a:r>
            <a:r>
              <a:rPr b="0" sz="1300">
                <a:solidFill>
                  <a:srgbClr val="1E1E1E"/>
                </a:solidFill>
                <a:latin typeface="Arial"/>
              </a:rPr>
              <a:t>31.01%</a:t>
            </a:r>
          </a:p>
          <a:p>
            <a:pPr lvl="1">
              <a:spcAft>
                <a:spcPts val="100"/>
              </a:spcAft>
              <a:defRPr>
                <a:latin typeface="Arial"/>
              </a:defRPr>
            </a:pPr>
            <a:r>
              <a:rPr b="1" sz="1300">
                <a:solidFill>
                  <a:srgbClr val="000000"/>
                </a:solidFill>
                <a:latin typeface="Arial"/>
              </a:rPr>
              <a:t>  - Top-5 Validation Acc: </a:t>
            </a:r>
            <a:r>
              <a:rPr b="0" sz="1300">
                <a:solidFill>
                  <a:srgbClr val="1E1E1E"/>
                </a:solidFill>
                <a:latin typeface="Arial"/>
              </a:rPr>
              <a:t>62.97%</a:t>
            </a:r>
          </a:p>
          <a:p>
            <a:pPr lvl="1">
              <a:spcAft>
                <a:spcPts val="100"/>
              </a:spcAft>
              <a:defRPr>
                <a:latin typeface="Arial"/>
              </a:defRPr>
            </a:pPr>
            <a:r>
              <a:rPr b="1" sz="1300">
                <a:solidFill>
                  <a:srgbClr val="000000"/>
                </a:solidFill>
                <a:latin typeface="Arial"/>
              </a:rPr>
              <a:t>  - Macro F1-Score: </a:t>
            </a:r>
            <a:r>
              <a:rPr b="0" sz="1300">
                <a:solidFill>
                  <a:srgbClr val="1E1E1E"/>
                </a:solidFill>
                <a:latin typeface="Arial"/>
              </a:rPr>
              <a:t>0.301</a:t>
            </a:r>
          </a:p>
          <a:p>
            <a:pPr lvl="1">
              <a:spcAft>
                <a:spcPts val="300"/>
              </a:spcAft>
              <a:defRPr>
                <a:latin typeface="Arial"/>
              </a:defRPr>
            </a:pPr>
            <a:r>
              <a:rPr b="1" sz="1300">
                <a:solidFill>
                  <a:srgbClr val="000000"/>
                </a:solidFill>
                <a:latin typeface="Arial"/>
              </a:rPr>
              <a:t>  - CPU Latency: </a:t>
            </a:r>
            <a:r>
              <a:rPr b="0" sz="1300">
                <a:solidFill>
                  <a:srgbClr val="1E1E1E"/>
                </a:solidFill>
                <a:latin typeface="Arial"/>
              </a:rPr>
              <a:t>38.1 ms / prediction</a:t>
            </a:r>
          </a:p>
        </p:txBody>
      </p:sp>
      <p:sp>
        <p:nvSpPr>
          <p:cNvPr id="5" name="TextBox 4"/>
          <p:cNvSpPr txBox="1"/>
          <p:nvPr/>
        </p:nvSpPr>
        <p:spPr>
          <a:xfrm>
            <a:off x="457200" y="4114800"/>
            <a:ext cx="8229600" cy="2560320"/>
          </a:xfrm>
          <a:prstGeom prst="rect">
            <a:avLst/>
          </a:prstGeom>
          <a:noFill/>
        </p:spPr>
        <p:txBody>
          <a:bodyPr wrap="square">
            <a:spAutoFit/>
          </a:bodyPr>
          <a:lstStyle/>
          <a:p>
            <a:pPr>
              <a:spcAft>
                <a:spcPts val="200"/>
              </a:spcAft>
              <a:defRPr>
                <a:latin typeface="Arial"/>
              </a:defRPr>
            </a:pPr>
            <a:r>
              <a:rPr b="1" sz="1500">
                <a:solidFill>
                  <a:srgbClr val="000000"/>
                </a:solidFill>
                <a:latin typeface="Arial"/>
              </a:rPr>
              <a:t>• Key Initial Observations:</a:t>
            </a:r>
          </a:p>
          <a:p>
            <a:pPr lvl="1">
              <a:spcAft>
                <a:spcPts val="200"/>
              </a:spcAft>
              <a:defRPr>
                <a:latin typeface="Arial"/>
              </a:defRPr>
            </a:pPr>
            <a:r>
              <a:rPr b="1" sz="1350">
                <a:solidFill>
                  <a:srgbClr val="000000"/>
                </a:solidFill>
                <a:latin typeface="Arial"/>
              </a:rPr>
              <a:t>  1. Real-Time Feasibility: </a:t>
            </a:r>
            <a:r>
              <a:rPr b="0" sz="1350">
                <a:solidFill>
                  <a:srgbClr val="1E1E1E"/>
                </a:solidFill>
                <a:latin typeface="Arial"/>
              </a:rPr>
              <a:t>Sub-40ms latency proves landmark-based neural inference runs comfortably on low-cost consumer CPUs without GPUs.</a:t>
            </a:r>
          </a:p>
          <a:p>
            <a:pPr lvl="1">
              <a:spcAft>
                <a:spcPts val="200"/>
              </a:spcAft>
              <a:defRPr>
                <a:latin typeface="Arial"/>
              </a:defRPr>
            </a:pPr>
            <a:r>
              <a:rPr b="1" sz="1350">
                <a:solidFill>
                  <a:srgbClr val="000000"/>
                </a:solidFill>
                <a:latin typeface="Arial"/>
              </a:rPr>
              <a:t>  2. Generalization Gap: </a:t>
            </a:r>
            <a:r>
              <a:rPr b="0" sz="1350">
                <a:solidFill>
                  <a:srgbClr val="1E1E1E"/>
                </a:solidFill>
                <a:latin typeface="Arial"/>
              </a:rPr>
              <a:t>Training accuracy reached 68.4% while validation was 31.01%, revealing overfitting caused by signer diversity and small per-class sample size.</a:t>
            </a:r>
          </a:p>
          <a:p>
            <a:pPr lvl="1">
              <a:spcAft>
                <a:spcPts val="200"/>
              </a:spcAft>
              <a:defRPr>
                <a:latin typeface="Arial"/>
              </a:defRPr>
            </a:pPr>
            <a:r>
              <a:rPr b="1" sz="1350">
                <a:solidFill>
                  <a:srgbClr val="000000"/>
                </a:solidFill>
                <a:latin typeface="Arial"/>
              </a:rPr>
              <a:t>  3. Minimal-Pair Ambiguity: </a:t>
            </a:r>
            <a:r>
              <a:rPr b="0" sz="1350">
                <a:solidFill>
                  <a:srgbClr val="1E1E1E"/>
                </a:solidFill>
                <a:latin typeface="Arial"/>
              </a:rPr>
              <a:t>Pairs sharing handshapes (e.g., 'mother' vs 'father') cause cross-confusion due to subtle contact points.</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65760"/>
            <a:ext cx="8046720" cy="822960"/>
          </a:xfrm>
          <a:prstGeom prst="rect">
            <a:avLst/>
          </a:prstGeom>
          <a:noFill/>
        </p:spPr>
        <p:txBody>
          <a:bodyPr wrap="square">
            <a:spAutoFit/>
          </a:bodyPr>
          <a:lstStyle/>
          <a:p>
            <a:pPr algn="ctr">
              <a:defRPr sz="2800" b="1">
                <a:solidFill>
                  <a:srgbClr val="000000"/>
                </a:solidFill>
                <a:latin typeface="Arial"/>
              </a:defRPr>
            </a:pPr>
            <a:r>
              <a:t>Challenges Faced</a:t>
            </a:r>
          </a:p>
        </p:txBody>
      </p:sp>
      <p:sp>
        <p:nvSpPr>
          <p:cNvPr id="3" name="TextBox 2"/>
          <p:cNvSpPr txBox="1"/>
          <p:nvPr/>
        </p:nvSpPr>
        <p:spPr>
          <a:xfrm>
            <a:off x="731520" y="1188720"/>
            <a:ext cx="7680960" cy="5303520"/>
          </a:xfrm>
          <a:prstGeom prst="rect">
            <a:avLst/>
          </a:prstGeom>
          <a:noFill/>
        </p:spPr>
        <p:txBody>
          <a:bodyPr wrap="square" tIns="91440" bIns="91440">
            <a:spAutoFit/>
          </a:bodyPr>
          <a:lstStyle/>
          <a:p>
            <a:pPr>
              <a:spcAft>
                <a:spcPts val="800"/>
              </a:spcAft>
              <a:defRPr>
                <a:latin typeface="Arial"/>
              </a:defRPr>
            </a:pPr>
            <a:r>
              <a:rPr b="1" sz="1500">
                <a:solidFill>
                  <a:srgbClr val="000000"/>
                </a:solidFill>
                <a:latin typeface="Arial"/>
              </a:rPr>
              <a:t>• Data Issues: </a:t>
            </a:r>
            <a:r>
              <a:rPr b="0" sz="1500">
                <a:solidFill>
                  <a:srgbClr val="1E1E1E"/>
                </a:solidFill>
                <a:latin typeface="Arial"/>
              </a:rPr>
              <a:t>Small sample size (~14 training clips per sign) and substantial cross-signer stylistic variance created high risk of model overfitting.</a:t>
            </a:r>
          </a:p>
          <a:p>
            <a:pPr>
              <a:spcAft>
                <a:spcPts val="800"/>
              </a:spcAft>
              <a:defRPr>
                <a:latin typeface="Arial"/>
              </a:defRPr>
            </a:pPr>
            <a:r>
              <a:rPr b="1" sz="1500">
                <a:solidFill>
                  <a:srgbClr val="000000"/>
                </a:solidFill>
                <a:latin typeface="Arial"/>
              </a:rPr>
              <a:t>• Implementation Challenges: </a:t>
            </a:r>
            <a:r>
              <a:rPr b="0" sz="1500">
                <a:solidFill>
                  <a:srgbClr val="1E1E1E"/>
                </a:solidFill>
                <a:latin typeface="Arial"/>
              </a:rPr>
              <a:t>Concurrent processing of 1080p camera capture, 225-point MediaPipe landmark extraction, and neural network inference caused initial CPU latency spikes.</a:t>
            </a:r>
          </a:p>
          <a:p>
            <a:pPr>
              <a:spcAft>
                <a:spcPts val="800"/>
              </a:spcAft>
              <a:defRPr>
                <a:latin typeface="Arial"/>
              </a:defRPr>
            </a:pPr>
            <a:r>
              <a:rPr b="1" sz="1500">
                <a:solidFill>
                  <a:srgbClr val="000000"/>
                </a:solidFill>
                <a:latin typeface="Arial"/>
              </a:rPr>
              <a:t>• Occlusion Difficulties: </a:t>
            </a:r>
            <a:r>
              <a:rPr b="0" sz="1500">
                <a:solidFill>
                  <a:srgbClr val="1E1E1E"/>
                </a:solidFill>
                <a:latin typeface="Arial"/>
              </a:rPr>
              <a:t>Rapid signing motions caused temporary hand self-occlusions, resulting in missing keypoints in intermediate frames.</a:t>
            </a:r>
          </a:p>
          <a:p>
            <a:pPr>
              <a:spcAft>
                <a:spcPts val="800"/>
              </a:spcAft>
              <a:defRPr>
                <a:latin typeface="Arial"/>
              </a:defRPr>
            </a:pPr>
            <a:r>
              <a:rPr b="1" sz="1500">
                <a:solidFill>
                  <a:srgbClr val="000000"/>
                </a:solidFill>
                <a:latin typeface="Arial"/>
              </a:rPr>
              <a:t>• Understanding Difficulties: </a:t>
            </a:r>
            <a:r>
              <a:rPr b="0" sz="1500">
                <a:solidFill>
                  <a:srgbClr val="1E1E1E"/>
                </a:solidFill>
                <a:latin typeface="Arial"/>
              </a:rPr>
              <a:t>Distinguishing linguistically identical minimal pairs differing only in subtle facial touch locations (chin vs forehead) required specialized normalization.</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65760"/>
            <a:ext cx="8046720" cy="822960"/>
          </a:xfrm>
          <a:prstGeom prst="rect">
            <a:avLst/>
          </a:prstGeom>
          <a:noFill/>
        </p:spPr>
        <p:txBody>
          <a:bodyPr wrap="square">
            <a:spAutoFit/>
          </a:bodyPr>
          <a:lstStyle/>
          <a:p>
            <a:pPr algn="ctr">
              <a:defRPr sz="2800" b="1">
                <a:solidFill>
                  <a:srgbClr val="000000"/>
                </a:solidFill>
                <a:latin typeface="Arial"/>
              </a:defRPr>
            </a:pPr>
            <a:r>
              <a:t>Plan for Next Phase</a:t>
            </a:r>
          </a:p>
        </p:txBody>
      </p:sp>
      <p:sp>
        <p:nvSpPr>
          <p:cNvPr id="3" name="TextBox 2"/>
          <p:cNvSpPr txBox="1"/>
          <p:nvPr/>
        </p:nvSpPr>
        <p:spPr>
          <a:xfrm>
            <a:off x="731520" y="1188720"/>
            <a:ext cx="7680960" cy="5303520"/>
          </a:xfrm>
          <a:prstGeom prst="rect">
            <a:avLst/>
          </a:prstGeom>
          <a:noFill/>
        </p:spPr>
        <p:txBody>
          <a:bodyPr wrap="square" tIns="91440" bIns="91440">
            <a:spAutoFit/>
          </a:bodyPr>
          <a:lstStyle/>
          <a:p>
            <a:pPr>
              <a:spcAft>
                <a:spcPts val="300"/>
              </a:spcAft>
              <a:defRPr>
                <a:latin typeface="Arial"/>
              </a:defRPr>
            </a:pPr>
            <a:r>
              <a:rPr b="1" sz="1500">
                <a:solidFill>
                  <a:srgbClr val="000000"/>
                </a:solidFill>
                <a:latin typeface="Arial"/>
              </a:rPr>
              <a:t>• 1. Model Improvement &amp; Ensemble Architecture:</a:t>
            </a:r>
          </a:p>
          <a:p>
            <a:pPr lvl="1">
              <a:spcAft>
                <a:spcPts val="200"/>
              </a:spcAft>
              <a:defRPr>
                <a:latin typeface="Arial"/>
              </a:defRPr>
            </a:pPr>
            <a:r>
              <a:rPr b="1" sz="1400">
                <a:solidFill>
                  <a:srgbClr val="000000"/>
                </a:solidFill>
                <a:latin typeface="Arial"/>
              </a:rPr>
              <a:t>  - Spatial-Temporal Transformer: </a:t>
            </a:r>
            <a:r>
              <a:rPr b="0" sz="1400">
                <a:solidFill>
                  <a:srgbClr val="1E1E1E"/>
                </a:solidFill>
                <a:latin typeface="Arial"/>
              </a:rPr>
              <a:t>Implement a 4-head self-attention Transformer to model global frame dependencies.</a:t>
            </a:r>
          </a:p>
          <a:p>
            <a:pPr lvl="1">
              <a:spcAft>
                <a:spcPts val="600"/>
              </a:spcAft>
              <a:defRPr>
                <a:latin typeface="Arial"/>
              </a:defRPr>
            </a:pPr>
            <a:r>
              <a:rPr b="1" sz="1400">
                <a:solidFill>
                  <a:srgbClr val="000000"/>
                </a:solidFill>
                <a:latin typeface="Arial"/>
              </a:rPr>
              <a:t>  - Weighted Neural Ensemble: </a:t>
            </a:r>
            <a:r>
              <a:rPr b="0" sz="1400">
                <a:solidFill>
                  <a:srgbClr val="1E1E1E"/>
                </a:solidFill>
                <a:latin typeface="Arial"/>
              </a:rPr>
              <a:t>Combine Transformer (65%) and BiLSTM (35%) via weighted softmax fusion to surpass 34% Top-1 accuracy.</a:t>
            </a:r>
          </a:p>
          <a:p>
            <a:pPr>
              <a:spcAft>
                <a:spcPts val="300"/>
              </a:spcAft>
              <a:defRPr>
                <a:latin typeface="Arial"/>
              </a:defRPr>
            </a:pPr>
            <a:r>
              <a:rPr b="1" sz="1500">
                <a:solidFill>
                  <a:srgbClr val="000000"/>
                </a:solidFill>
                <a:latin typeface="Arial"/>
              </a:rPr>
              <a:t>• 2. UI &amp; 3D Kinematic Deployment Plan:</a:t>
            </a:r>
          </a:p>
          <a:p>
            <a:pPr lvl="1">
              <a:spcAft>
                <a:spcPts val="200"/>
              </a:spcAft>
              <a:defRPr>
                <a:latin typeface="Arial"/>
              </a:defRPr>
            </a:pPr>
            <a:r>
              <a:rPr b="1" sz="1400">
                <a:solidFill>
                  <a:srgbClr val="000000"/>
                </a:solidFill>
                <a:latin typeface="Arial"/>
              </a:rPr>
              <a:t>  - Bidirectional 3D Studio: </a:t>
            </a:r>
            <a:r>
              <a:rPr b="0" sz="1400">
                <a:solidFill>
                  <a:srgbClr val="1E1E1E"/>
                </a:solidFill>
                <a:latin typeface="Arial"/>
              </a:rPr>
              <a:t>Develop interactive Three.js cartoon avatar ('Leo') with 21 articulated finger joints per hand.</a:t>
            </a:r>
          </a:p>
          <a:p>
            <a:pPr lvl="1">
              <a:spcAft>
                <a:spcPts val="200"/>
              </a:spcAft>
              <a:defRPr>
                <a:latin typeface="Arial"/>
              </a:defRPr>
            </a:pPr>
            <a:r>
              <a:rPr b="1" sz="1400">
                <a:solidFill>
                  <a:srgbClr val="000000"/>
                </a:solidFill>
                <a:latin typeface="Arial"/>
              </a:rPr>
              <a:t>  - 8-Frame Hermite Transition Blending: </a:t>
            </a:r>
            <a:r>
              <a:rPr b="0" sz="1400">
                <a:solidFill>
                  <a:srgbClr val="1E1E1E"/>
                </a:solidFill>
                <a:latin typeface="Arial"/>
              </a:rPr>
              <a:t>Implement cubic ease-in-out spline interpolation for fluid, jerk-free multi-sign animation.</a:t>
            </a:r>
          </a:p>
          <a:p>
            <a:pPr lvl="1">
              <a:spcAft>
                <a:spcPts val="600"/>
              </a:spcAft>
              <a:defRPr>
                <a:latin typeface="Arial"/>
              </a:defRPr>
            </a:pPr>
            <a:r>
              <a:rPr b="1" sz="1400">
                <a:solidFill>
                  <a:srgbClr val="000000"/>
                </a:solidFill>
                <a:latin typeface="Arial"/>
              </a:rPr>
              <a:t>  - Full WLASL-2000 Expansion: </a:t>
            </a:r>
            <a:r>
              <a:rPr b="0" sz="1400">
                <a:solidFill>
                  <a:srgbClr val="1E1E1E"/>
                </a:solidFill>
                <a:latin typeface="Arial"/>
              </a:rPr>
              <a:t>Convert all 2,000 WLASL signs into lightweight 3D kinematic trajectory files.</a:t>
            </a:r>
          </a:p>
          <a:p>
            <a:pPr>
              <a:spcAft>
                <a:spcPts val="400"/>
              </a:spcAft>
              <a:defRPr>
                <a:latin typeface="Arial"/>
              </a:defRPr>
            </a:pPr>
            <a:r>
              <a:rPr b="1" sz="1400">
                <a:solidFill>
                  <a:srgbClr val="000000"/>
                </a:solidFill>
                <a:latin typeface="Arial"/>
              </a:rPr>
              <a:t>• 3. Research Paper Writing: </a:t>
            </a:r>
            <a:r>
              <a:rPr b="0" sz="1400">
                <a:solidFill>
                  <a:srgbClr val="1E1E1E"/>
                </a:solidFill>
                <a:latin typeface="Arial"/>
              </a:rPr>
              <a:t>Initiate authorship of the formal ML research paper following SFIT AIML guidelines with literature review and IEEE references.</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65760"/>
            <a:ext cx="8046720" cy="822960"/>
          </a:xfrm>
          <a:prstGeom prst="rect">
            <a:avLst/>
          </a:prstGeom>
          <a:noFill/>
        </p:spPr>
        <p:txBody>
          <a:bodyPr wrap="square">
            <a:spAutoFit/>
          </a:bodyPr>
          <a:lstStyle/>
          <a:p>
            <a:pPr algn="ctr">
              <a:defRPr sz="2800" b="1">
                <a:solidFill>
                  <a:srgbClr val="000000"/>
                </a:solidFill>
                <a:latin typeface="Arial"/>
              </a:defRPr>
            </a:pPr>
            <a:r>
              <a:t>Deliverables</a:t>
            </a:r>
          </a:p>
        </p:txBody>
      </p:sp>
      <p:sp>
        <p:nvSpPr>
          <p:cNvPr id="3" name="TextBox 2"/>
          <p:cNvSpPr txBox="1"/>
          <p:nvPr/>
        </p:nvSpPr>
        <p:spPr>
          <a:xfrm>
            <a:off x="731520" y="1188720"/>
            <a:ext cx="7680960" cy="5303520"/>
          </a:xfrm>
          <a:prstGeom prst="rect">
            <a:avLst/>
          </a:prstGeom>
          <a:noFill/>
        </p:spPr>
        <p:txBody>
          <a:bodyPr wrap="square" tIns="91440" bIns="91440">
            <a:spAutoFit/>
          </a:bodyPr>
          <a:lstStyle/>
          <a:p>
            <a:pPr>
              <a:spcAft>
                <a:spcPts val="800"/>
              </a:spcAft>
              <a:defRPr>
                <a:latin typeface="Arial"/>
              </a:defRPr>
            </a:pPr>
            <a:r>
              <a:rPr b="1" sz="1500">
                <a:solidFill>
                  <a:srgbClr val="000000"/>
                </a:solidFill>
                <a:latin typeface="Arial"/>
              </a:rPr>
              <a:t>• Deliverable 1: Dataset Files &amp; Feature Callset: </a:t>
            </a:r>
            <a:r>
              <a:rPr b="0" sz="1500">
                <a:solidFill>
                  <a:srgbClr val="1E1E1E"/>
                </a:solidFill>
                <a:latin typeface="Arial"/>
              </a:rPr>
              <a:t>WLASL-100 preprocessed feature tensors (N, 60, 225) and classes.json dictionary mapping 100 conversational sign glosses.</a:t>
            </a:r>
          </a:p>
          <a:p>
            <a:pPr>
              <a:spcAft>
                <a:spcPts val="800"/>
              </a:spcAft>
              <a:defRPr>
                <a:latin typeface="Arial"/>
              </a:defRPr>
            </a:pPr>
            <a:r>
              <a:rPr b="1" sz="1500">
                <a:solidFill>
                  <a:srgbClr val="000000"/>
                </a:solidFill>
                <a:latin typeface="Arial"/>
              </a:rPr>
              <a:t>• Deliverable 2: Jupyter Notebook &amp; Training Scripts: </a:t>
            </a:r>
            <a:r>
              <a:rPr b="0" sz="1500">
                <a:solidFill>
                  <a:srgbClr val="1E1E1E"/>
                </a:solidFill>
                <a:latin typeface="Arial"/>
              </a:rPr>
              <a:t>Modular training scripts (train_model.py, extract_features_parallel.py) containing data loading, 225-point preprocessing, and baseline BiLSTM model training.</a:t>
            </a:r>
          </a:p>
          <a:p>
            <a:pPr>
              <a:spcAft>
                <a:spcPts val="800"/>
              </a:spcAft>
              <a:defRPr>
                <a:latin typeface="Arial"/>
              </a:defRPr>
            </a:pPr>
            <a:r>
              <a:rPr b="1" sz="1500">
                <a:solidFill>
                  <a:srgbClr val="000000"/>
                </a:solidFill>
                <a:latin typeface="Arial"/>
              </a:rPr>
              <a:t>• Deliverable 3: GitHub Repository: </a:t>
            </a:r>
            <a:r>
              <a:rPr b="0" sz="1500">
                <a:solidFill>
                  <a:srgbClr val="1E1E1E"/>
                </a:solidFill>
                <a:latin typeface="Arial"/>
              </a:rPr>
              <a:t>Public version-controlled repository maintained at https://github.com/joelvarghese023-ship-it/ASL-translator.git with active branches (main, baseline-100-words).</a:t>
            </a:r>
          </a:p>
          <a:p>
            <a:pPr>
              <a:spcAft>
                <a:spcPts val="800"/>
              </a:spcAft>
              <a:defRPr>
                <a:latin typeface="Arial"/>
              </a:defRPr>
            </a:pPr>
            <a:r>
              <a:rPr b="1" sz="1500">
                <a:solidFill>
                  <a:srgbClr val="000000"/>
                </a:solidFill>
                <a:latin typeface="Arial"/>
              </a:rPr>
              <a:t>• Deliverable 4: Block Diagram Images: </a:t>
            </a:r>
            <a:r>
              <a:rPr b="0" sz="1500">
                <a:solidFill>
                  <a:srgbClr val="1E1E1E"/>
                </a:solidFill>
                <a:latin typeface="Arial"/>
              </a:rPr>
              <a:t>High-resolution system architecture and 225-point holistic feature engineering diagrams (fig1_system_workflow.png, fig4_landmark_feature_map.png).</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65760"/>
            <a:ext cx="8046720" cy="822960"/>
          </a:xfrm>
          <a:prstGeom prst="rect">
            <a:avLst/>
          </a:prstGeom>
          <a:noFill/>
        </p:spPr>
        <p:txBody>
          <a:bodyPr wrap="square">
            <a:spAutoFit/>
          </a:bodyPr>
          <a:lstStyle/>
          <a:p>
            <a:pPr algn="ctr">
              <a:defRPr sz="2800" b="1">
                <a:solidFill>
                  <a:srgbClr val="000000"/>
                </a:solidFill>
                <a:latin typeface="Arial"/>
              </a:defRPr>
            </a:pPr>
            <a:r>
              <a:t>References</a:t>
            </a:r>
          </a:p>
        </p:txBody>
      </p:sp>
      <p:sp>
        <p:nvSpPr>
          <p:cNvPr id="3" name="TextBox 2"/>
          <p:cNvSpPr txBox="1"/>
          <p:nvPr/>
        </p:nvSpPr>
        <p:spPr>
          <a:xfrm>
            <a:off x="731520" y="1188720"/>
            <a:ext cx="7680960" cy="5303520"/>
          </a:xfrm>
          <a:prstGeom prst="rect">
            <a:avLst/>
          </a:prstGeom>
          <a:noFill/>
        </p:spPr>
        <p:txBody>
          <a:bodyPr wrap="square" tIns="91440" bIns="91440">
            <a:spAutoFit/>
          </a:bodyPr>
          <a:lstStyle/>
          <a:p>
            <a:pPr>
              <a:spcAft>
                <a:spcPts val="200"/>
              </a:spcAft>
              <a:defRPr>
                <a:latin typeface="Arial"/>
              </a:defRPr>
            </a:pPr>
            <a:r>
              <a:rPr b="1" sz="1500">
                <a:solidFill>
                  <a:srgbClr val="000000"/>
                </a:solidFill>
                <a:latin typeface="Arial"/>
              </a:rPr>
              <a:t>• Dataset Sources:</a:t>
            </a:r>
          </a:p>
          <a:p>
            <a:pPr lvl="1">
              <a:spcAft>
                <a:spcPts val="300"/>
              </a:spcAft>
              <a:defRPr>
                <a:latin typeface="Arial"/>
              </a:defRPr>
            </a:pPr>
            <a:r>
              <a:rPr b="1" sz="1200">
                <a:solidFill>
                  <a:srgbClr val="000000"/>
                </a:solidFill>
                <a:latin typeface="Arial"/>
              </a:rPr>
              <a:t>  [1] </a:t>
            </a:r>
            <a:r>
              <a:rPr b="0" sz="1200">
                <a:solidFill>
                  <a:srgbClr val="1E1E1E"/>
                </a:solidFill>
                <a:latin typeface="Arial"/>
              </a:rPr>
              <a:t>D. Li, C. Rodriguez, X. Yu, and H. Li, 'Word-level Deep Sign Language Recognition from Video: A New Large-scale Dataset and Methods Benchmark,' in IEEE/CVF WACV, 2020, pp. 1459–1469.</a:t>
            </a:r>
          </a:p>
          <a:p>
            <a:pPr>
              <a:spcAft>
                <a:spcPts val="200"/>
              </a:spcAft>
              <a:defRPr>
                <a:latin typeface="Arial"/>
              </a:defRPr>
            </a:pPr>
            <a:r>
              <a:rPr b="1" sz="1500">
                <a:solidFill>
                  <a:srgbClr val="000000"/>
                </a:solidFill>
                <a:latin typeface="Arial"/>
              </a:rPr>
              <a:t>• Research Papers:</a:t>
            </a:r>
          </a:p>
          <a:p>
            <a:pPr lvl="1">
              <a:spcAft>
                <a:spcPts val="200"/>
              </a:spcAft>
              <a:defRPr>
                <a:latin typeface="Arial"/>
              </a:defRPr>
            </a:pPr>
            <a:r>
              <a:rPr b="1" sz="1200">
                <a:solidFill>
                  <a:srgbClr val="000000"/>
                </a:solidFill>
                <a:latin typeface="Arial"/>
              </a:rPr>
              <a:t>  [2] </a:t>
            </a:r>
            <a:r>
              <a:rPr b="0" sz="1200">
                <a:solidFill>
                  <a:srgbClr val="1E1E1E"/>
                </a:solidFill>
                <a:latin typeface="Arial"/>
              </a:rPr>
              <a:t>A. Graves, A. Mohamed, and G. Hinton, 'Speech Recognition with Deep Recurrent Neural Networks,' in IEEE ICASSP, 2013, pp. 6645–6649.</a:t>
            </a:r>
          </a:p>
          <a:p>
            <a:pPr lvl="1">
              <a:spcAft>
                <a:spcPts val="200"/>
              </a:spcAft>
              <a:defRPr>
                <a:latin typeface="Arial"/>
              </a:defRPr>
            </a:pPr>
            <a:r>
              <a:rPr b="1" sz="1200">
                <a:solidFill>
                  <a:srgbClr val="000000"/>
                </a:solidFill>
                <a:latin typeface="Arial"/>
              </a:rPr>
              <a:t>  [3] </a:t>
            </a:r>
            <a:r>
              <a:rPr b="0" sz="1200">
                <a:solidFill>
                  <a:srgbClr val="1E1E1E"/>
                </a:solidFill>
                <a:latin typeface="Arial"/>
              </a:rPr>
              <a:t>A. Vaswani et al., 'Attention Is All You Need,' in Advances in Neural Information Processing Systems (NeurIPS), 2017, pp. 5998–6008.</a:t>
            </a:r>
          </a:p>
          <a:p>
            <a:pPr lvl="1">
              <a:spcAft>
                <a:spcPts val="300"/>
              </a:spcAft>
              <a:defRPr>
                <a:latin typeface="Arial"/>
              </a:defRPr>
            </a:pPr>
            <a:r>
              <a:rPr b="1" sz="1200">
                <a:solidFill>
                  <a:srgbClr val="000000"/>
                </a:solidFill>
                <a:latin typeface="Arial"/>
              </a:rPr>
              <a:t>  [4] </a:t>
            </a:r>
            <a:r>
              <a:rPr b="0" sz="1200">
                <a:solidFill>
                  <a:srgbClr val="1E1E1E"/>
                </a:solidFill>
                <a:latin typeface="Arial"/>
              </a:rPr>
              <a:t>C. Lugaresi et al., 'MediaPipe: A Framework for Building Perception Pipelines,' in IEEE/CVF CVPRW, 2019.</a:t>
            </a:r>
          </a:p>
          <a:p>
            <a:pPr>
              <a:spcAft>
                <a:spcPts val="200"/>
              </a:spcAft>
              <a:defRPr>
                <a:latin typeface="Arial"/>
              </a:defRPr>
            </a:pPr>
            <a:r>
              <a:rPr b="1" sz="1500">
                <a:solidFill>
                  <a:srgbClr val="000000"/>
                </a:solidFill>
                <a:latin typeface="Arial"/>
              </a:rPr>
              <a:t>• Other Resources &amp; Frameworks:</a:t>
            </a:r>
          </a:p>
          <a:p>
            <a:pPr lvl="1">
              <a:spcAft>
                <a:spcPts val="100"/>
              </a:spcAft>
              <a:defRPr>
                <a:latin typeface="Arial"/>
              </a:defRPr>
            </a:pPr>
            <a:r>
              <a:rPr b="1" sz="1200">
                <a:solidFill>
                  <a:srgbClr val="000000"/>
                </a:solidFill>
                <a:latin typeface="Arial"/>
              </a:rPr>
              <a:t>  [5] </a:t>
            </a:r>
            <a:r>
              <a:rPr b="0" sz="1200">
                <a:solidFill>
                  <a:srgbClr val="1E1E1E"/>
                </a:solidFill>
                <a:latin typeface="Arial"/>
              </a:rPr>
              <a:t>TensorFlow 2.16 &amp; Keras Documentation (https://tensorflow.org).</a:t>
            </a:r>
          </a:p>
          <a:p>
            <a:pPr lvl="1">
              <a:spcAft>
                <a:spcPts val="100"/>
              </a:spcAft>
              <a:defRPr>
                <a:latin typeface="Arial"/>
              </a:defRPr>
            </a:pPr>
            <a:r>
              <a:rPr b="1" sz="1200">
                <a:solidFill>
                  <a:srgbClr val="000000"/>
                </a:solidFill>
                <a:latin typeface="Arial"/>
              </a:rPr>
              <a:t>  [6] </a:t>
            </a:r>
            <a:r>
              <a:rPr b="0" sz="1200">
                <a:solidFill>
                  <a:srgbClr val="1E1E1E"/>
                </a:solidFill>
                <a:latin typeface="Arial"/>
              </a:rPr>
              <a:t>Google MediaPipe Holistic API Reference (https://mediapipe.dev).</a:t>
            </a:r>
          </a:p>
          <a:p>
            <a:pPr lvl="1">
              <a:spcAft>
                <a:spcPts val="200"/>
              </a:spcAft>
              <a:defRPr>
                <a:latin typeface="Arial"/>
              </a:defRPr>
            </a:pPr>
            <a:r>
              <a:rPr b="1" sz="1200">
                <a:solidFill>
                  <a:srgbClr val="000000"/>
                </a:solidFill>
                <a:latin typeface="Arial"/>
              </a:rPr>
              <a:t>  [7] </a:t>
            </a:r>
            <a:r>
              <a:rPr b="0" sz="1200">
                <a:solidFill>
                  <a:srgbClr val="1E1E1E"/>
                </a:solidFill>
                <a:latin typeface="Arial"/>
              </a:rPr>
              <a:t>Three.js WebGL 3D Documentation (https://threejs.org).</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