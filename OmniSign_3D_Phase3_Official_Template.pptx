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0000"/>
                </a:solidFill>
                <a:latin typeface="Arial"/>
              </a:defRPr>
            </a:pPr>
            <a:r>
              <a:t>Title Slide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7680960" cy="530352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spcAft>
                <a:spcPts val="1000"/>
              </a:spcAft>
              <a:defRPr>
                <a:latin typeface="Arial"/>
              </a:defRPr>
            </a:pPr>
            <a:r>
              <a:rPr b="1" sz="1600">
                <a:solidFill>
                  <a:srgbClr val="000000"/>
                </a:solidFill>
                <a:latin typeface="Arial"/>
              </a:rPr>
              <a:t>• Project Title: </a:t>
            </a:r>
            <a:r>
              <a:rPr b="0" sz="1600">
                <a:solidFill>
                  <a:srgbClr val="1E1E1E"/>
                </a:solidFill>
                <a:latin typeface="Arial"/>
              </a:rPr>
              <a:t>OmniSign 3D: Bidirectional American Sign Language Recognition and Kinematic 3D Motion Synthesis Using a Spatial-Temporal Transformer and BiLSTM Neural Ensemble</a:t>
            </a:r>
          </a:p>
          <a:p>
            <a:pPr>
              <a:spcAft>
                <a:spcPts val="1000"/>
              </a:spcAft>
              <a:defRPr>
                <a:latin typeface="Arial"/>
              </a:defRPr>
            </a:pPr>
            <a:r>
              <a:rPr b="1" sz="1600">
                <a:solidFill>
                  <a:srgbClr val="000000"/>
                </a:solidFill>
                <a:latin typeface="Arial"/>
              </a:rPr>
              <a:t>• Student Name: </a:t>
            </a:r>
            <a:r>
              <a:rPr b="0" sz="1600">
                <a:solidFill>
                  <a:srgbClr val="1E1E1E"/>
                </a:solidFill>
                <a:latin typeface="Arial"/>
              </a:rPr>
              <a:t>Joel Joe Varghese</a:t>
            </a:r>
          </a:p>
          <a:p>
            <a:pPr>
              <a:spcAft>
                <a:spcPts val="1000"/>
              </a:spcAft>
              <a:defRPr>
                <a:latin typeface="Arial"/>
              </a:defRPr>
            </a:pPr>
            <a:r>
              <a:rPr b="1" sz="1600">
                <a:solidFill>
                  <a:srgbClr val="000000"/>
                </a:solidFill>
                <a:latin typeface="Arial"/>
              </a:rPr>
              <a:t>• Roll No / Batch: </a:t>
            </a:r>
            <a:r>
              <a:rPr b="0" sz="1600">
                <a:solidFill>
                  <a:srgbClr val="1E1E1E"/>
                </a:solidFill>
                <a:latin typeface="Arial"/>
              </a:rPr>
              <a:t>SE - AIML - IV / Batch 2022-2026</a:t>
            </a:r>
          </a:p>
          <a:p>
            <a:pPr>
              <a:spcAft>
                <a:spcPts val="1000"/>
              </a:spcAft>
              <a:defRPr>
                <a:latin typeface="Arial"/>
              </a:defRPr>
            </a:pPr>
            <a:r>
              <a:rPr b="1" sz="1600">
                <a:solidFill>
                  <a:srgbClr val="000000"/>
                </a:solidFill>
                <a:latin typeface="Arial"/>
              </a:rPr>
              <a:t>• Course: </a:t>
            </a:r>
            <a:r>
              <a:rPr b="0" sz="1600">
                <a:solidFill>
                  <a:srgbClr val="1E1E1E"/>
                </a:solidFill>
                <a:latin typeface="Arial"/>
              </a:rPr>
              <a:t>Machine Learning Mini Project (Phase-3 / Final Review)</a:t>
            </a:r>
          </a:p>
          <a:p>
            <a:pPr>
              <a:spcAft>
                <a:spcPts val="1000"/>
              </a:spcAft>
              <a:defRPr>
                <a:latin typeface="Arial"/>
              </a:defRPr>
            </a:pPr>
            <a:r>
              <a:rPr b="1" sz="1600">
                <a:solidFill>
                  <a:srgbClr val="000000"/>
                </a:solidFill>
                <a:latin typeface="Arial"/>
              </a:rPr>
              <a:t>• Guide Name: </a:t>
            </a:r>
            <a:r>
              <a:rPr b="0" sz="1600">
                <a:solidFill>
                  <a:srgbClr val="1E1E1E"/>
                </a:solidFill>
                <a:latin typeface="Arial"/>
              </a:rPr>
              <a:t>Dr. Joanne Gomes (Faculty In-charge, Dept. of AIML)</a:t>
            </a:r>
          </a:p>
          <a:p>
            <a:pPr>
              <a:spcAft>
                <a:spcPts val="1000"/>
              </a:spcAft>
              <a:defRPr>
                <a:latin typeface="Arial"/>
              </a:defRPr>
            </a:pPr>
            <a:r>
              <a:rPr b="1" sz="1600">
                <a:solidFill>
                  <a:srgbClr val="000000"/>
                </a:solidFill>
                <a:latin typeface="Arial"/>
              </a:rPr>
              <a:t>• Institute Name: </a:t>
            </a:r>
            <a:r>
              <a:rPr b="0" sz="1600">
                <a:solidFill>
                  <a:srgbClr val="1E1E1E"/>
                </a:solidFill>
                <a:latin typeface="Arial"/>
              </a:rPr>
              <a:t>St. Francis Institute of Technology (Engineering College), Mumbai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0000"/>
                </a:solidFill>
                <a:latin typeface="Arial"/>
              </a:defRPr>
            </a:pPr>
            <a:r>
              <a:t>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7680960" cy="530352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spcAft>
                <a:spcPts val="800"/>
              </a:spcAft>
              <a:defRPr>
                <a:latin typeface="Arial"/>
              </a:defRPr>
            </a:pPr>
            <a:r>
              <a:rPr b="1" sz="1600">
                <a:solidFill>
                  <a:srgbClr val="000000"/>
                </a:solidFill>
                <a:latin typeface="Arial"/>
              </a:rPr>
              <a:t>• Final Problem Definition: </a:t>
            </a:r>
            <a:r>
              <a:rPr b="0" sz="1600">
                <a:solidFill>
                  <a:srgbClr val="1E1E1E"/>
                </a:solidFill>
                <a:latin typeface="Arial"/>
              </a:rPr>
              <a:t>Over 70 million deaf individuals globally face acute daily communication barriers. Existing automated solutions are largely unidirectional, restricted to isolated static alphabets, or rely on computationally heavy raw-pixel 3D CNNs that cannot run on edge/browser hardware without expensive GPUs.</a:t>
            </a:r>
          </a:p>
          <a:p>
            <a:pPr>
              <a:spcAft>
                <a:spcPts val="800"/>
              </a:spcAft>
              <a:defRPr>
                <a:latin typeface="Arial"/>
              </a:defRPr>
            </a:pPr>
            <a:r>
              <a:rPr b="1" sz="1600">
                <a:solidFill>
                  <a:srgbClr val="000000"/>
                </a:solidFill>
                <a:latin typeface="Arial"/>
              </a:rPr>
              <a:t>• Objectives of the Project: </a:t>
            </a:r>
            <a:r>
              <a:rPr b="0" sz="1600">
                <a:solidFill>
                  <a:srgbClr val="1E1E1E"/>
                </a:solidFill>
                <a:latin typeface="Arial"/>
              </a:rPr>
              <a:t>Develop an end-to-end bidirectional ASL translation system combining zero-latency webcam perception (Sign → Text) with expressive 3D kinematic avatar motion synthesis (Text → 3D Sign) supporting 2,000 WLASL signs.</a:t>
            </a:r>
          </a:p>
          <a:p>
            <a:pPr>
              <a:spcAft>
                <a:spcPts val="300"/>
              </a:spcAft>
              <a:defRPr>
                <a:latin typeface="Arial"/>
              </a:defRPr>
            </a:pPr>
            <a:r>
              <a:rPr b="1" sz="1600">
                <a:solidFill>
                  <a:srgbClr val="000000"/>
                </a:solidFill>
                <a:latin typeface="Arial"/>
              </a:rPr>
              <a:t>• SDG Mapping (United Nations Sustainable Development Goals): </a:t>
            </a:r>
            <a:r>
              <a:rPr b="0" sz="1600">
                <a:solidFill>
                  <a:srgbClr val="1E1E1E"/>
                </a:solidFill>
                <a:latin typeface="Arial"/>
              </a:rPr>
              <a:t/>
            </a:r>
          </a:p>
          <a:p>
            <a:pPr lvl="1">
              <a:spcAft>
                <a:spcPts val="300"/>
              </a:spcAft>
              <a:defRPr>
                <a:latin typeface="Arial"/>
              </a:defRPr>
            </a:pPr>
            <a:r>
              <a:rPr b="1" sz="1400">
                <a:solidFill>
                  <a:srgbClr val="000000"/>
                </a:solidFill>
                <a:latin typeface="Arial"/>
              </a:rPr>
              <a:t>  - SDG 10 (Reduced Inequalities - Target 10.2): </a:t>
            </a:r>
            <a:r>
              <a:rPr b="0" sz="1400">
                <a:solidFill>
                  <a:srgbClr val="1E1E1E"/>
                </a:solidFill>
                <a:latin typeface="Arial"/>
              </a:rPr>
              <a:t>Empowering social, economic, and institutional inclusion for the deaf community without requiring human third-party interpreters.</a:t>
            </a:r>
          </a:p>
          <a:p>
            <a:pPr lvl="1">
              <a:spcAft>
                <a:spcPts val="300"/>
              </a:spcAft>
              <a:defRPr>
                <a:latin typeface="Arial"/>
              </a:defRPr>
            </a:pPr>
            <a:r>
              <a:rPr b="1" sz="1400">
                <a:solidFill>
                  <a:srgbClr val="000000"/>
                </a:solidFill>
                <a:latin typeface="Arial"/>
              </a:rPr>
              <a:t>  - SDG 4 (Quality Education - Target 4.5): </a:t>
            </a:r>
            <a:r>
              <a:rPr b="0" sz="1400">
                <a:solidFill>
                  <a:srgbClr val="1E1E1E"/>
                </a:solidFill>
                <a:latin typeface="Arial"/>
              </a:rPr>
              <a:t>Facilitating inclusive classroom learning with real-time translation and an interactive 3D sign visualizer.</a:t>
            </a:r>
          </a:p>
          <a:p>
            <a:pPr lvl="1">
              <a:spcAft>
                <a:spcPts val="800"/>
              </a:spcAft>
              <a:defRPr>
                <a:latin typeface="Arial"/>
              </a:defRPr>
            </a:pPr>
            <a:r>
              <a:rPr b="1" sz="1400">
                <a:solidFill>
                  <a:srgbClr val="000000"/>
                </a:solidFill>
                <a:latin typeface="Arial"/>
              </a:rPr>
              <a:t>  - SDG 3 (Good Health and Well-Being - Target 3.8): </a:t>
            </a:r>
            <a:r>
              <a:rPr b="0" sz="1400">
                <a:solidFill>
                  <a:srgbClr val="1E1E1E"/>
                </a:solidFill>
                <a:latin typeface="Arial"/>
              </a:rPr>
              <a:t>Eliminating communication failure in emergency telehealth and medical consultations.</a:t>
            </a:r>
          </a:p>
          <a:p>
            <a:pPr>
              <a:spcAft>
                <a:spcPts val="600"/>
              </a:spcAft>
              <a:defRPr>
                <a:latin typeface="Arial"/>
              </a:defRPr>
            </a:pPr>
            <a:r>
              <a:rPr b="1" sz="1600">
                <a:solidFill>
                  <a:srgbClr val="000000"/>
                </a:solidFill>
                <a:latin typeface="Arial"/>
              </a:rPr>
              <a:t>• How the Project is Useful to Society: </a:t>
            </a:r>
            <a:r>
              <a:rPr b="0" sz="1600">
                <a:solidFill>
                  <a:srgbClr val="1E1E1E"/>
                </a:solidFill>
                <a:latin typeface="Arial"/>
              </a:rPr>
              <a:t>Bridges the hearing-deaf gap across public desks, hospitals, and educational institutions by democratizing instant, private, two-way communication on standard low-cost laptops and mobile devices.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latin typeface="Arial"/>
              </a:defRPr>
            </a:pPr>
            <a:r>
              <a:t>Literature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8046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latin typeface="Arial"/>
              </a:defRPr>
            </a:pPr>
            <a:r>
              <a:t>• Literature Survey Summary (Survey of 7 Foundational Papers - Part 1)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822960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"/>
                <a:gridCol w="1463040"/>
                <a:gridCol w="1645920"/>
                <a:gridCol w="1371600"/>
                <a:gridCol w="1554480"/>
                <a:gridCol w="1645920"/>
              </a:tblGrid>
              <a:tr h="62865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Ref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Author &amp; Year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Problem Addressed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Dataset Used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Method / Architecture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Features Extracted</a:t>
                      </a:r>
                    </a:p>
                  </a:txBody>
                  <a:tcPr/>
                </a:tc>
              </a:tr>
              <a:tr h="62865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1E1E"/>
                          </a:solidFill>
                          <a:latin typeface="Arial"/>
                        </a:defRPr>
                      </a:pPr>
                      <a:r>
                        <a:t>[1]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1E1E"/>
                          </a:solidFill>
                          <a:latin typeface="Arial"/>
                        </a:defRPr>
                      </a:pPr>
                      <a:r>
                        <a:t>Li et al., 2020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1E1E"/>
                          </a:solidFill>
                          <a:latin typeface="Arial"/>
                        </a:defRPr>
                      </a:pPr>
                      <a:r>
                        <a:t>Word-level ASL recognition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1E1E"/>
                          </a:solidFill>
                          <a:latin typeface="Arial"/>
                        </a:defRPr>
                      </a:pPr>
                      <a:r>
                        <a:t>WLASL (2,000 signs)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1E1E"/>
                          </a:solidFill>
                          <a:latin typeface="Arial"/>
                        </a:defRPr>
                      </a:pPr>
                      <a:r>
                        <a:t>I3D ConvNet + TGCN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1E1E"/>
                          </a:solidFill>
                          <a:latin typeface="Arial"/>
                        </a:defRPr>
                      </a:pPr>
                      <a:r>
                        <a:t>Raw RGB video pixels</a:t>
                      </a:r>
                    </a:p>
                  </a:txBody>
                  <a:tcPr/>
                </a:tc>
              </a:tr>
              <a:tr h="62865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1E1E"/>
                          </a:solidFill>
                          <a:latin typeface="Arial"/>
                        </a:defRPr>
                      </a:pPr>
                      <a:r>
                        <a:t>[2]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1E1E"/>
                          </a:solidFill>
                          <a:latin typeface="Arial"/>
                        </a:defRPr>
                      </a:pPr>
                      <a:r>
                        <a:t>Vaswani et al., 2017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1E1E"/>
                          </a:solidFill>
                          <a:latin typeface="Arial"/>
                        </a:defRPr>
                      </a:pPr>
                      <a:r>
                        <a:t>Sequential attention modeling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1E1E"/>
                          </a:solidFill>
                          <a:latin typeface="Arial"/>
                        </a:defRPr>
                      </a:pPr>
                      <a:r>
                        <a:t>WMT 2014 En-De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1E1E"/>
                          </a:solidFill>
                          <a:latin typeface="Arial"/>
                        </a:defRPr>
                      </a:pPr>
                      <a:r>
                        <a:t>Multi-Head Transformer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1E1E"/>
                          </a:solidFill>
                          <a:latin typeface="Arial"/>
                        </a:defRPr>
                      </a:pPr>
                      <a:r>
                        <a:t>Positional embeddings</a:t>
                      </a:r>
                    </a:p>
                  </a:txBody>
                  <a:tcPr/>
                </a:tc>
              </a:tr>
              <a:tr h="62865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1E1E"/>
                          </a:solidFill>
                          <a:latin typeface="Arial"/>
                        </a:defRPr>
                      </a:pPr>
                      <a:r>
                        <a:t>[3]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1E1E"/>
                          </a:solidFill>
                          <a:latin typeface="Arial"/>
                        </a:defRPr>
                      </a:pPr>
                      <a:r>
                        <a:t>Graves et al., 2013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1E1E"/>
                          </a:solidFill>
                          <a:latin typeface="Arial"/>
                        </a:defRPr>
                      </a:pPr>
                      <a:r>
                        <a:t>Temporal gesture modeling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1E1E"/>
                          </a:solidFill>
                          <a:latin typeface="Arial"/>
                        </a:defRPr>
                      </a:pPr>
                      <a:r>
                        <a:t>TIMIT Benchmark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1E1E"/>
                          </a:solidFill>
                          <a:latin typeface="Arial"/>
                        </a:defRPr>
                      </a:pPr>
                      <a:r>
                        <a:t>Bidirectional LSTM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1E1E"/>
                          </a:solidFill>
                          <a:latin typeface="Arial"/>
                        </a:defRPr>
                      </a:pPr>
                      <a:r>
                        <a:t>Frame temporal sequences</a:t>
                      </a:r>
                    </a:p>
                  </a:txBody>
                  <a:tcPr/>
                </a:tc>
              </a:tr>
              <a:tr h="62865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1E1E"/>
                          </a:solidFill>
                          <a:latin typeface="Arial"/>
                        </a:defRPr>
                      </a:pPr>
                      <a:r>
                        <a:t>[4]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1E1E"/>
                          </a:solidFill>
                          <a:latin typeface="Arial"/>
                        </a:defRPr>
                      </a:pPr>
                      <a:r>
                        <a:t>Lugaresi et al., 2019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1E1E"/>
                          </a:solidFill>
                          <a:latin typeface="Arial"/>
                        </a:defRPr>
                      </a:pPr>
                      <a:r>
                        <a:t>Real-time perception pipelines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1E1E"/>
                          </a:solidFill>
                          <a:latin typeface="Arial"/>
                        </a:defRPr>
                      </a:pPr>
                      <a:r>
                        <a:t>Holistic Perception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1E1E"/>
                          </a:solidFill>
                          <a:latin typeface="Arial"/>
                        </a:defRPr>
                      </a:pPr>
                      <a:r>
                        <a:t>MediaPipe Holistic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1E1E"/>
                          </a:solidFill>
                          <a:latin typeface="Arial"/>
                        </a:defRPr>
                      </a:pPr>
                      <a:r>
                        <a:t>3D skeleton &amp; hand points</a:t>
                      </a:r>
                    </a:p>
                  </a:txBody>
                  <a:tcPr/>
                </a:tc>
              </a:tr>
              <a:tr h="62865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1E1E"/>
                          </a:solidFill>
                          <a:latin typeface="Arial"/>
                        </a:defRPr>
                      </a:pPr>
                      <a:r>
                        <a:t>[5]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1E1E"/>
                          </a:solidFill>
                          <a:latin typeface="Arial"/>
                        </a:defRPr>
                      </a:pPr>
                      <a:r>
                        <a:t>Yan et al., 2018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1E1E"/>
                          </a:solidFill>
                          <a:latin typeface="Arial"/>
                        </a:defRPr>
                      </a:pPr>
                      <a:r>
                        <a:t>Skeleton action recognition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1E1E"/>
                          </a:solidFill>
                          <a:latin typeface="Arial"/>
                        </a:defRPr>
                      </a:pPr>
                      <a:r>
                        <a:t>NTU RGB+D / Kinetics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1E1E"/>
                          </a:solidFill>
                          <a:latin typeface="Arial"/>
                        </a:defRPr>
                      </a:pPr>
                      <a:r>
                        <a:t>ST-GCN Graph Net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1E1E"/>
                          </a:solidFill>
                          <a:latin typeface="Arial"/>
                        </a:defRPr>
                      </a:pPr>
                      <a:r>
                        <a:t>Spatial-temporal graphs</a:t>
                      </a:r>
                    </a:p>
                  </a:txBody>
                  <a:tcPr/>
                </a:tc>
              </a:tr>
              <a:tr h="62865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1E1E"/>
                          </a:solidFill>
                          <a:latin typeface="Arial"/>
                        </a:defRPr>
                      </a:pPr>
                      <a:r>
                        <a:t>[6]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1E1E"/>
                          </a:solidFill>
                          <a:latin typeface="Arial"/>
                        </a:defRPr>
                      </a:pPr>
                      <a:r>
                        <a:t>Camgoz et al., 2020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1E1E"/>
                          </a:solidFill>
                          <a:latin typeface="Arial"/>
                        </a:defRPr>
                      </a:pPr>
                      <a:r>
                        <a:t>Neural sign translation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1E1E"/>
                          </a:solidFill>
                          <a:latin typeface="Arial"/>
                        </a:defRPr>
                      </a:pPr>
                      <a:r>
                        <a:t>PHOENIX-Weather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1E1E"/>
                          </a:solidFill>
                          <a:latin typeface="Arial"/>
                        </a:defRPr>
                      </a:pPr>
                      <a:r>
                        <a:t>Sign Language Transformer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1E1E"/>
                          </a:solidFill>
                          <a:latin typeface="Arial"/>
                        </a:defRPr>
                      </a:pPr>
                      <a:r>
                        <a:t>2D CNN + Gloss Attention</a:t>
                      </a:r>
                    </a:p>
                  </a:txBody>
                  <a:tcPr/>
                </a:tc>
              </a:tr>
              <a:tr h="62865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1E1E"/>
                          </a:solidFill>
                          <a:latin typeface="Arial"/>
                        </a:defRPr>
                      </a:pPr>
                      <a:r>
                        <a:t>[7]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1E1E"/>
                          </a:solidFill>
                          <a:latin typeface="Arial"/>
                        </a:defRPr>
                      </a:pPr>
                      <a:r>
                        <a:t>McDonald et al., 2016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1E1E"/>
                          </a:solidFill>
                          <a:latin typeface="Arial"/>
                        </a:defRPr>
                      </a:pPr>
                      <a:r>
                        <a:t>3D animated signing avatars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1E1E"/>
                          </a:solidFill>
                          <a:latin typeface="Arial"/>
                        </a:defRPr>
                      </a:pPr>
                      <a:r>
                        <a:t>HamNoSys Dictionary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1E1E"/>
                          </a:solidFill>
                          <a:latin typeface="Arial"/>
                        </a:defRPr>
                      </a:pPr>
                      <a:r>
                        <a:t>Kinematic Rigging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1E1E"/>
                          </a:solidFill>
                          <a:latin typeface="Arial"/>
                        </a:defRPr>
                      </a:pPr>
                      <a:r>
                        <a:t>Joint angle keyframes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latin typeface="Arial"/>
              </a:defRPr>
            </a:pPr>
            <a:r>
              <a:t>Literature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8046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latin typeface="Arial"/>
              </a:defRPr>
            </a:pPr>
            <a:r>
              <a:t>• Literature Survey Summary (Accuracy, Limitations, Gap &amp; Contribution - Part 2)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822960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"/>
                <a:gridCol w="1188720"/>
                <a:gridCol w="2011680"/>
                <a:gridCol w="2103120"/>
                <a:gridCol w="2377440"/>
              </a:tblGrid>
              <a:tr h="62865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Ref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Reported Acc.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Limitations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Identified Research Gap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Your Project Contribution</a:t>
                      </a:r>
                    </a:p>
                  </a:txBody>
                  <a:tcPr/>
                </a:tc>
              </a:tr>
              <a:tr h="62865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1E1E"/>
                          </a:solidFill>
                          <a:latin typeface="Arial"/>
                        </a:defRPr>
                      </a:pPr>
                      <a:r>
                        <a:t>[1]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1E1E"/>
                          </a:solidFill>
                          <a:latin typeface="Arial"/>
                        </a:defRPr>
                      </a:pPr>
                      <a:r>
                        <a:t>32.48% (100)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1E1E"/>
                          </a:solidFill>
                          <a:latin typeface="Arial"/>
                        </a:defRPr>
                      </a:pPr>
                      <a:r>
                        <a:t>Heavy (&gt;25M params); GPU-bound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1E1E"/>
                          </a:solidFill>
                          <a:latin typeface="Arial"/>
                        </a:defRPr>
                      </a:pPr>
                      <a:r>
                        <a:t>Not real-time on CPU; no synthesis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1E1E"/>
                          </a:solidFill>
                          <a:latin typeface="Arial"/>
                        </a:defRPr>
                      </a:pPr>
                      <a:r>
                        <a:t>Lightweight 225-point landmark ensemble</a:t>
                      </a:r>
                    </a:p>
                  </a:txBody>
                  <a:tcPr/>
                </a:tc>
              </a:tr>
              <a:tr h="62865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1E1E"/>
                          </a:solidFill>
                          <a:latin typeface="Arial"/>
                        </a:defRPr>
                      </a:pPr>
                      <a:r>
                        <a:t>[2]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1E1E"/>
                          </a:solidFill>
                          <a:latin typeface="Arial"/>
                        </a:defRPr>
                      </a:pPr>
                      <a:r>
                        <a:t>28.4 BLEU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1E1E"/>
                          </a:solidFill>
                          <a:latin typeface="Arial"/>
                        </a:defRPr>
                      </a:pPr>
                      <a:r>
                        <a:t>Quadratic self-attention scaling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1E1E"/>
                          </a:solidFill>
                          <a:latin typeface="Arial"/>
                        </a:defRPr>
                      </a:pPr>
                      <a:r>
                        <a:t>Lacks sequential smoothing bias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1E1E"/>
                          </a:solidFill>
                          <a:latin typeface="Arial"/>
                        </a:defRPr>
                      </a:pPr>
                      <a:r>
                        <a:t>Temporal resampling + BiLSTM fusion</a:t>
                      </a:r>
                    </a:p>
                  </a:txBody>
                  <a:tcPr/>
                </a:tc>
              </a:tr>
              <a:tr h="62865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1E1E"/>
                          </a:solidFill>
                          <a:latin typeface="Arial"/>
                        </a:defRPr>
                      </a:pPr>
                      <a:r>
                        <a:t>[3]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1E1E"/>
                          </a:solidFill>
                          <a:latin typeface="Arial"/>
                        </a:defRPr>
                      </a:pPr>
                      <a:r>
                        <a:t>78.2% PER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1E1E"/>
                          </a:solidFill>
                          <a:latin typeface="Arial"/>
                        </a:defRPr>
                      </a:pPr>
                      <a:r>
                        <a:t>Vanishing gradients on long signs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1E1E"/>
                          </a:solidFill>
                          <a:latin typeface="Arial"/>
                        </a:defRPr>
                      </a:pPr>
                      <a:r>
                        <a:t>Misses global non-adjacent context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1E1E"/>
                          </a:solidFill>
                          <a:latin typeface="Arial"/>
                        </a:defRPr>
                      </a:pPr>
                      <a:r>
                        <a:t>Complementary 65% Transformer branch</a:t>
                      </a:r>
                    </a:p>
                  </a:txBody>
                  <a:tcPr/>
                </a:tc>
              </a:tr>
              <a:tr h="62865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1E1E"/>
                          </a:solidFill>
                          <a:latin typeface="Arial"/>
                        </a:defRPr>
                      </a:pPr>
                      <a:r>
                        <a:t>[4]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1E1E"/>
                          </a:solidFill>
                          <a:latin typeface="Arial"/>
                        </a:defRPr>
                      </a:pPr>
                      <a:r>
                        <a:t>30+ FPS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1E1E"/>
                          </a:solidFill>
                          <a:latin typeface="Arial"/>
                        </a:defRPr>
                      </a:pPr>
                      <a:r>
                        <a:t>Raw landmarks unnormalized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1E1E"/>
                          </a:solidFill>
                          <a:latin typeface="Arial"/>
                        </a:defRPr>
                      </a:pPr>
                      <a:r>
                        <a:t>Sensitive to user distance / position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1E1E"/>
                          </a:solidFill>
                          <a:latin typeface="Arial"/>
                        </a:defRPr>
                      </a:pPr>
                      <a:r>
                        <a:t>Nose-centering &amp; shoulder scale invariance</a:t>
                      </a:r>
                    </a:p>
                  </a:txBody>
                  <a:tcPr/>
                </a:tc>
              </a:tr>
              <a:tr h="62865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1E1E"/>
                          </a:solidFill>
                          <a:latin typeface="Arial"/>
                        </a:defRPr>
                      </a:pPr>
                      <a:r>
                        <a:t>[5]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1E1E"/>
                          </a:solidFill>
                          <a:latin typeface="Arial"/>
                        </a:defRPr>
                      </a:pPr>
                      <a:r>
                        <a:t>81.5% Top-1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1E1E"/>
                          </a:solidFill>
                          <a:latin typeface="Arial"/>
                        </a:defRPr>
                      </a:pPr>
                      <a:r>
                        <a:t>Heavy graph matrix multiplications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1E1E"/>
                          </a:solidFill>
                          <a:latin typeface="Arial"/>
                        </a:defRPr>
                      </a:pPr>
                      <a:r>
                        <a:t>Incompatible with web edge runtime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1E1E"/>
                          </a:solidFill>
                          <a:latin typeface="Arial"/>
                        </a:defRPr>
                      </a:pPr>
                      <a:r>
                        <a:t>Dense 1D attention projection (78.4 ms)</a:t>
                      </a:r>
                    </a:p>
                  </a:txBody>
                  <a:tcPr/>
                </a:tc>
              </a:tr>
              <a:tr h="62865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1E1E"/>
                          </a:solidFill>
                          <a:latin typeface="Arial"/>
                        </a:defRPr>
                      </a:pPr>
                      <a:r>
                        <a:t>[6]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1E1E"/>
                          </a:solidFill>
                          <a:latin typeface="Arial"/>
                        </a:defRPr>
                      </a:pPr>
                      <a:r>
                        <a:t>24.5 BLEU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1E1E"/>
                          </a:solidFill>
                          <a:latin typeface="Arial"/>
                        </a:defRPr>
                      </a:pPr>
                      <a:r>
                        <a:t>Unidirectional text translation only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1E1E"/>
                          </a:solidFill>
                          <a:latin typeface="Arial"/>
                        </a:defRPr>
                      </a:pPr>
                      <a:r>
                        <a:t>No interactive 3D sign visualization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1E1E"/>
                          </a:solidFill>
                          <a:latin typeface="Arial"/>
                        </a:defRPr>
                      </a:pPr>
                      <a:r>
                        <a:t>Bidirectional studio with 3D cartoon avatar</a:t>
                      </a:r>
                    </a:p>
                  </a:txBody>
                  <a:tcPr/>
                </a:tc>
              </a:tr>
              <a:tr h="62865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1E1E"/>
                          </a:solidFill>
                          <a:latin typeface="Arial"/>
                        </a:defRPr>
                      </a:pPr>
                      <a:r>
                        <a:t>[7]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1E1E"/>
                          </a:solidFill>
                          <a:latin typeface="Arial"/>
                        </a:defRPr>
                      </a:pPr>
                      <a:r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1E1E"/>
                          </a:solidFill>
                          <a:latin typeface="Arial"/>
                        </a:defRPr>
                      </a:pPr>
                      <a:r>
                        <a:t>Robotic popping between signs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1E1E"/>
                          </a:solidFill>
                          <a:latin typeface="Arial"/>
                        </a:defRPr>
                      </a:pPr>
                      <a:r>
                        <a:t>Lack of smooth joint transition curves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1E1E"/>
                          </a:solidFill>
                          <a:latin typeface="Arial"/>
                        </a:defRPr>
                      </a:pPr>
                      <a:r>
                        <a:t>8-frame Hermite cubic ease-in-out blending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0000"/>
                </a:solidFill>
                <a:latin typeface="Arial"/>
              </a:defRPr>
            </a:pPr>
            <a:r>
              <a:t>Research Gaps Identified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7680960" cy="530352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spcAft>
                <a:spcPts val="800"/>
              </a:spcAft>
              <a:defRPr>
                <a:latin typeface="Arial"/>
              </a:defRPr>
            </a:pPr>
            <a:r>
              <a:rPr b="1" sz="1500">
                <a:solidFill>
                  <a:srgbClr val="000000"/>
                </a:solidFill>
                <a:latin typeface="Arial"/>
              </a:rPr>
              <a:t>• Computational Bottleneck of Video CNNs: </a:t>
            </a:r>
            <a:r>
              <a:rPr b="0" sz="1500">
                <a:solidFill>
                  <a:srgbClr val="1E1E1E"/>
                </a:solidFill>
                <a:latin typeface="Arial"/>
              </a:rPr>
              <a:t>State-of-the-art architectures (I3D, SlowFast) require GPU clusters and &gt;250 ms per frame, preventing client-side browser or low-cost laptop deployment.</a:t>
            </a:r>
          </a:p>
          <a:p>
            <a:pPr>
              <a:spcAft>
                <a:spcPts val="800"/>
              </a:spcAft>
              <a:defRPr>
                <a:latin typeface="Arial"/>
              </a:defRPr>
            </a:pPr>
            <a:r>
              <a:rPr b="1" sz="1500">
                <a:solidFill>
                  <a:srgbClr val="000000"/>
                </a:solidFill>
                <a:latin typeface="Arial"/>
              </a:rPr>
              <a:t>• Spatial &amp; Subject Variance Overfitting: </a:t>
            </a:r>
            <a:r>
              <a:rPr b="0" sz="1500">
                <a:solidFill>
                  <a:srgbClr val="1E1E1E"/>
                </a:solidFill>
                <a:latin typeface="Arial"/>
              </a:rPr>
              <a:t>Raw-pixel systems easily overfit to signer background, lighting conditions, clothing, and camera distances, failing in unconstrained environments.</a:t>
            </a:r>
          </a:p>
          <a:p>
            <a:pPr>
              <a:spcAft>
                <a:spcPts val="800"/>
              </a:spcAft>
              <a:defRPr>
                <a:latin typeface="Arial"/>
              </a:defRPr>
            </a:pPr>
            <a:r>
              <a:rPr b="1" sz="1500">
                <a:solidFill>
                  <a:srgbClr val="000000"/>
                </a:solidFill>
                <a:latin typeface="Arial"/>
              </a:rPr>
              <a:t>• Unidirectional Disconnection: </a:t>
            </a:r>
            <a:r>
              <a:rPr b="0" sz="1500">
                <a:solidFill>
                  <a:srgbClr val="1E1E1E"/>
                </a:solidFill>
                <a:latin typeface="Arial"/>
              </a:rPr>
              <a:t>Prior works operate either as Sign-to-Text classifiers or Text-to-Sign animators in total isolation. No practical tool connects them into a closed-loop bidirectional dialog.</a:t>
            </a:r>
          </a:p>
          <a:p>
            <a:pPr>
              <a:spcAft>
                <a:spcPts val="800"/>
              </a:spcAft>
              <a:defRPr>
                <a:latin typeface="Arial"/>
              </a:defRPr>
            </a:pPr>
            <a:r>
              <a:rPr b="1" sz="1500">
                <a:solidFill>
                  <a:srgbClr val="000000"/>
                </a:solidFill>
                <a:latin typeface="Arial"/>
              </a:rPr>
              <a:t>• Discontinuous 3D Avatar Kinematics: </a:t>
            </a:r>
            <a:r>
              <a:rPr b="0" sz="1500">
                <a:solidFill>
                  <a:srgbClr val="1E1E1E"/>
                </a:solidFill>
                <a:latin typeface="Arial"/>
              </a:rPr>
              <a:t>Existing signing avatars concatenate static sign files sequentially, causing unnatural visual popping, joint dislocation, and robotic snaps between words.</a:t>
            </a:r>
          </a:p>
          <a:p>
            <a:pPr>
              <a:spcAft>
                <a:spcPts val="800"/>
              </a:spcAft>
              <a:defRPr>
                <a:latin typeface="Arial"/>
              </a:defRPr>
            </a:pPr>
            <a:r>
              <a:rPr b="1" sz="1500">
                <a:solidFill>
                  <a:srgbClr val="000000"/>
                </a:solidFill>
                <a:latin typeface="Arial"/>
              </a:rPr>
              <a:t>• Limited Web-Accessible Vocabulary: </a:t>
            </a:r>
            <a:r>
              <a:rPr b="0" sz="1500">
                <a:solidFill>
                  <a:srgbClr val="1E1E1E"/>
                </a:solidFill>
                <a:latin typeface="Arial"/>
              </a:rPr>
              <a:t>Current web-based sign tools only support 26 static fingerspelling letters rather than real conversational word-level vocabularies.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latin typeface="Arial"/>
              </a:defRPr>
            </a:pPr>
            <a:r>
              <a:t>System Architecture</a:t>
            </a:r>
          </a:p>
        </p:txBody>
      </p:sp>
      <p:pic>
        <p:nvPicPr>
          <p:cNvPr id="3" name="Picture 2" descr="fig1_system_work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88720"/>
            <a:ext cx="8046720" cy="39319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212080"/>
            <a:ext cx="8046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>
                <a:latin typeface="Arial"/>
              </a:defRPr>
            </a:pPr>
            <a:r>
              <a:rPr b="1" sz="1300">
                <a:solidFill>
                  <a:srgbClr val="000000"/>
                </a:solidFill>
                <a:latin typeface="Arial"/>
              </a:rPr>
              <a:t>• Perception Pipeline: </a:t>
            </a:r>
            <a:r>
              <a:rPr b="0" sz="1300">
                <a:solidFill>
                  <a:srgbClr val="1E1E1E"/>
                </a:solidFill>
                <a:latin typeface="Arial"/>
              </a:rPr>
              <a:t>Webcam stream (30 FPS) → MediaPipe Holistic (225 keypoints) → Invariant Normalization.</a:t>
            </a:r>
          </a:p>
          <a:p>
            <a:pPr>
              <a:spcAft>
                <a:spcPts val="200"/>
              </a:spcAft>
              <a:defRPr>
                <a:latin typeface="Arial"/>
              </a:defRPr>
            </a:pPr>
            <a:r>
              <a:rPr b="1" sz="1300">
                <a:solidFill>
                  <a:srgbClr val="000000"/>
                </a:solidFill>
                <a:latin typeface="Arial"/>
              </a:rPr>
              <a:t>• Dual Ensemble Engine: </a:t>
            </a:r>
            <a:r>
              <a:rPr b="0" sz="1300">
                <a:solidFill>
                  <a:srgbClr val="1E1E1E"/>
                </a:solidFill>
                <a:latin typeface="Arial"/>
              </a:rPr>
              <a:t>65% Spatial-Temporal Transformer + 35% BiLSTM → Top-5 predictions in 78.4 ms.</a:t>
            </a:r>
          </a:p>
          <a:p>
            <a:pPr>
              <a:spcAft>
                <a:spcPts val="200"/>
              </a:spcAft>
              <a:defRPr>
                <a:latin typeface="Arial"/>
              </a:defRPr>
            </a:pPr>
            <a:r>
              <a:rPr b="1" sz="1300">
                <a:solidFill>
                  <a:srgbClr val="000000"/>
                </a:solidFill>
                <a:latin typeface="Arial"/>
              </a:rPr>
              <a:t>• Kinematic 3D Studio: </a:t>
            </a:r>
            <a:r>
              <a:rPr b="0" sz="1300">
                <a:solidFill>
                  <a:srgbClr val="1E1E1E"/>
                </a:solidFill>
                <a:latin typeface="Arial"/>
              </a:rPr>
              <a:t>NLP Normalizer → 8-frame Hermite ease-in-out blending → Three.js character 'Leo' (2,000 signs).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latin typeface="Arial"/>
              </a:defRPr>
            </a:pPr>
            <a:r>
              <a:t>Dataset &amp; Pre-processing</a:t>
            </a:r>
          </a:p>
        </p:txBody>
      </p:sp>
      <p:pic>
        <p:nvPicPr>
          <p:cNvPr id="3" name="Picture 2" descr="fig4_landmark_feature_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80160"/>
            <a:ext cx="4297680" cy="5029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846320" y="1188720"/>
            <a:ext cx="39319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>
                <a:latin typeface="Arial"/>
              </a:defRPr>
            </a:pPr>
            <a:r>
              <a:rPr b="1" sz="1400">
                <a:solidFill>
                  <a:srgbClr val="000000"/>
                </a:solidFill>
                <a:latin typeface="Arial"/>
              </a:rPr>
              <a:t>• Dataset Description: </a:t>
            </a:r>
            <a:r>
              <a:rPr b="0" sz="1400">
                <a:solidFill>
                  <a:srgbClr val="1E1E1E"/>
                </a:solidFill>
                <a:latin typeface="Arial"/>
              </a:rPr>
              <a:t>WLASL v0.3 Benchmark (2,000 words, 21,083 video clips across 119 signers).</a:t>
            </a:r>
          </a:p>
          <a:p>
            <a:pPr>
              <a:spcAft>
                <a:spcPts val="400"/>
              </a:spcAft>
              <a:defRPr>
                <a:latin typeface="Arial"/>
              </a:defRPr>
            </a:pPr>
            <a:r>
              <a:rPr b="1" sz="1400">
                <a:solidFill>
                  <a:srgbClr val="000000"/>
                </a:solidFill>
                <a:latin typeface="Arial"/>
              </a:rPr>
              <a:t>• Data Partitions: </a:t>
            </a:r>
            <a:r>
              <a:rPr b="0" sz="1400">
                <a:solidFill>
                  <a:srgbClr val="1E1E1E"/>
                </a:solidFill>
                <a:latin typeface="Arial"/>
              </a:rPr>
              <a:t>70% Train (1,426 clips), 15% Validation (296 clips), 15% Test (316 clips) for WLASL-100.</a:t>
            </a:r>
          </a:p>
          <a:p>
            <a:pPr>
              <a:spcAft>
                <a:spcPts val="200"/>
              </a:spcAft>
              <a:defRPr>
                <a:latin typeface="Arial"/>
              </a:defRPr>
            </a:pPr>
            <a:r>
              <a:rPr b="1" sz="1400">
                <a:solidFill>
                  <a:srgbClr val="000000"/>
                </a:solidFill>
                <a:latin typeface="Arial"/>
              </a:rPr>
              <a:t>• 225-Point Holistic Vector: </a:t>
            </a:r>
            <a:r>
              <a:rPr b="0" sz="1400">
                <a:solidFill>
                  <a:srgbClr val="1E1E1E"/>
                </a:solidFill>
                <a:latin typeface="Arial"/>
              </a:rPr>
              <a:t/>
            </a:r>
          </a:p>
          <a:p>
            <a:pPr lvl="1">
              <a:spcAft>
                <a:spcPts val="100"/>
              </a:spcAft>
              <a:defRPr>
                <a:latin typeface="Arial"/>
              </a:defRPr>
            </a:pPr>
            <a:r>
              <a:rPr b="1" sz="1200">
                <a:solidFill>
                  <a:srgbClr val="000000"/>
                </a:solidFill>
                <a:latin typeface="Arial"/>
              </a:rPr>
              <a:t>  - Upper Pose Skeleton: </a:t>
            </a:r>
            <a:r>
              <a:rPr b="0" sz="1200">
                <a:solidFill>
                  <a:srgbClr val="1E1E1E"/>
                </a:solidFill>
                <a:latin typeface="Arial"/>
              </a:rPr>
              <a:t>25 keypoints × 3 = 75 dims (lower body discarded)</a:t>
            </a:r>
          </a:p>
          <a:p>
            <a:pPr lvl="1">
              <a:spcAft>
                <a:spcPts val="100"/>
              </a:spcAft>
              <a:defRPr>
                <a:latin typeface="Arial"/>
              </a:defRPr>
            </a:pPr>
            <a:r>
              <a:rPr b="1" sz="1200">
                <a:solidFill>
                  <a:srgbClr val="000000"/>
                </a:solidFill>
                <a:latin typeface="Arial"/>
              </a:rPr>
              <a:t>  - Left Hand Articulation: </a:t>
            </a:r>
            <a:r>
              <a:rPr b="0" sz="1200">
                <a:solidFill>
                  <a:srgbClr val="1E1E1E"/>
                </a:solidFill>
                <a:latin typeface="Arial"/>
              </a:rPr>
              <a:t>21 joints × 3 = 63 dims</a:t>
            </a:r>
          </a:p>
          <a:p>
            <a:pPr lvl="1">
              <a:spcAft>
                <a:spcPts val="100"/>
              </a:spcAft>
              <a:defRPr>
                <a:latin typeface="Arial"/>
              </a:defRPr>
            </a:pPr>
            <a:r>
              <a:rPr b="1" sz="1200">
                <a:solidFill>
                  <a:srgbClr val="000000"/>
                </a:solidFill>
                <a:latin typeface="Arial"/>
              </a:rPr>
              <a:t>  - Right Hand Articulation: </a:t>
            </a:r>
            <a:r>
              <a:rPr b="0" sz="1200">
                <a:solidFill>
                  <a:srgbClr val="1E1E1E"/>
                </a:solidFill>
                <a:latin typeface="Arial"/>
              </a:rPr>
              <a:t>21 joints × 3 = 63 dims</a:t>
            </a:r>
          </a:p>
          <a:p>
            <a:pPr lvl="1">
              <a:spcAft>
                <a:spcPts val="400"/>
              </a:spcAft>
              <a:defRPr>
                <a:latin typeface="Arial"/>
              </a:defRPr>
            </a:pPr>
            <a:r>
              <a:rPr b="1" sz="1200">
                <a:solidFill>
                  <a:srgbClr val="000000"/>
                </a:solidFill>
                <a:latin typeface="Arial"/>
              </a:rPr>
              <a:t>  - Lip Contours: </a:t>
            </a:r>
            <a:r>
              <a:rPr b="0" sz="1200">
                <a:solidFill>
                  <a:srgbClr val="1E1E1E"/>
                </a:solidFill>
                <a:latin typeface="Arial"/>
              </a:rPr>
              <a:t>8 keypoints × 3 = 24 dims</a:t>
            </a:r>
          </a:p>
          <a:p>
            <a:pPr>
              <a:spcAft>
                <a:spcPts val="200"/>
              </a:spcAft>
              <a:defRPr>
                <a:latin typeface="Arial"/>
              </a:defRPr>
            </a:pPr>
            <a:r>
              <a:rPr b="1" sz="1400">
                <a:solidFill>
                  <a:srgbClr val="000000"/>
                </a:solidFill>
                <a:latin typeface="Arial"/>
              </a:rPr>
              <a:t>• Invariant Normalization Steps: </a:t>
            </a:r>
            <a:r>
              <a:rPr b="0" sz="1400">
                <a:solidFill>
                  <a:srgbClr val="1E1E1E"/>
                </a:solidFill>
                <a:latin typeface="Arial"/>
              </a:rPr>
              <a:t/>
            </a:r>
          </a:p>
          <a:p>
            <a:pPr lvl="1">
              <a:spcAft>
                <a:spcPts val="100"/>
              </a:spcAft>
              <a:defRPr>
                <a:latin typeface="Arial"/>
              </a:defRPr>
            </a:pPr>
            <a:r>
              <a:rPr b="1" sz="1200">
                <a:solidFill>
                  <a:srgbClr val="000000"/>
                </a:solidFill>
                <a:latin typeface="Arial"/>
              </a:rPr>
              <a:t>  1. Origin Centering: </a:t>
            </a:r>
            <a:r>
              <a:rPr b="0" sz="1200">
                <a:solidFill>
                  <a:srgbClr val="1E1E1E"/>
                </a:solidFill>
                <a:latin typeface="Arial"/>
              </a:rPr>
              <a:t>x' = x - x_nose (anchored to nose landmark)</a:t>
            </a:r>
          </a:p>
          <a:p>
            <a:pPr lvl="1">
              <a:spcAft>
                <a:spcPts val="100"/>
              </a:spcAft>
              <a:defRPr>
                <a:latin typeface="Arial"/>
              </a:defRPr>
            </a:pPr>
            <a:r>
              <a:rPr b="1" sz="1200">
                <a:solidFill>
                  <a:srgbClr val="000000"/>
                </a:solidFill>
                <a:latin typeface="Arial"/>
              </a:rPr>
              <a:t>  2. Shoulder Scaling: </a:t>
            </a:r>
            <a:r>
              <a:rPr b="0" sz="1200">
                <a:solidFill>
                  <a:srgbClr val="1E1E1E"/>
                </a:solidFill>
                <a:latin typeface="Arial"/>
              </a:rPr>
              <a:t>p'' = x' / (||p_R - p_L|| + ε) (scale invariant)</a:t>
            </a:r>
          </a:p>
          <a:p>
            <a:pPr lvl="1">
              <a:spcAft>
                <a:spcPts val="400"/>
              </a:spcAft>
              <a:defRPr>
                <a:latin typeface="Arial"/>
              </a:defRPr>
            </a:pPr>
            <a:r>
              <a:rPr b="1" sz="1200">
                <a:solidFill>
                  <a:srgbClr val="000000"/>
                </a:solidFill>
                <a:latin typeface="Arial"/>
              </a:rPr>
              <a:t>  3. Linear Resampling: </a:t>
            </a:r>
            <a:r>
              <a:rPr b="0" sz="1200">
                <a:solidFill>
                  <a:srgbClr val="1E1E1E"/>
                </a:solidFill>
                <a:latin typeface="Arial"/>
              </a:rPr>
              <a:t>Interpolated to exactly T = 60 frames (1, 60, 225)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0000"/>
                </a:solidFill>
                <a:latin typeface="Arial"/>
              </a:defRPr>
            </a:pPr>
            <a:r>
              <a:t>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7680960" cy="530352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spcAft>
                <a:spcPts val="300"/>
              </a:spcAft>
              <a:defRPr>
                <a:latin typeface="Arial"/>
              </a:defRPr>
            </a:pPr>
            <a:r>
              <a:rPr b="1" sz="1600">
                <a:solidFill>
                  <a:srgbClr val="000000"/>
                </a:solidFill>
                <a:latin typeface="Arial"/>
              </a:rPr>
              <a:t>• Algorithms Implemented: </a:t>
            </a:r>
            <a:r>
              <a:rPr b="0" sz="1600">
                <a:solidFill>
                  <a:srgbClr val="1E1E1E"/>
                </a:solidFill>
                <a:latin typeface="Arial"/>
              </a:rPr>
              <a:t/>
            </a:r>
          </a:p>
          <a:p>
            <a:pPr lvl="1">
              <a:spcAft>
                <a:spcPts val="400"/>
              </a:spcAft>
              <a:defRPr>
                <a:latin typeface="Arial"/>
              </a:defRPr>
            </a:pPr>
            <a:r>
              <a:rPr b="1" sz="1400">
                <a:solidFill>
                  <a:srgbClr val="000000"/>
                </a:solidFill>
                <a:latin typeface="Arial"/>
              </a:rPr>
              <a:t>  1. Spatial-Temporal Deep Transformer (65% Weight): </a:t>
            </a:r>
            <a:r>
              <a:rPr b="0" sz="1400">
                <a:solidFill>
                  <a:srgbClr val="1E1E1E"/>
                </a:solidFill>
                <a:latin typeface="Arial"/>
              </a:rPr>
              <a:t>Multi-Head Self-Attention (4 heads, d_k=32), learnable 1D positional encoding, Layer Normalization, Feed-Forward Dense blocks with GELU activation, Dropout (0.3).</a:t>
            </a:r>
          </a:p>
          <a:p>
            <a:pPr lvl="1">
              <a:spcAft>
                <a:spcPts val="400"/>
              </a:spcAft>
              <a:defRPr>
                <a:latin typeface="Arial"/>
              </a:defRPr>
            </a:pPr>
            <a:r>
              <a:rPr b="1" sz="1400">
                <a:solidFill>
                  <a:srgbClr val="000000"/>
                </a:solidFill>
                <a:latin typeface="Arial"/>
              </a:rPr>
              <a:t>  2. Optimized Bidirectional LSTM (35% Weight): </a:t>
            </a:r>
            <a:r>
              <a:rPr b="0" sz="1400">
                <a:solidFill>
                  <a:srgbClr val="1E1E1E"/>
                </a:solidFill>
                <a:latin typeface="Arial"/>
              </a:rPr>
              <a:t>2 stacked BiLSTM layers with 128 units each (256 per layer), Batch Normalization, recurrent dropout (0.4), and L2 regularized dense projection.</a:t>
            </a:r>
          </a:p>
          <a:p>
            <a:pPr lvl="1">
              <a:spcAft>
                <a:spcPts val="400"/>
              </a:spcAft>
              <a:defRPr>
                <a:latin typeface="Arial"/>
              </a:defRPr>
            </a:pPr>
            <a:r>
              <a:rPr b="1" sz="1400">
                <a:solidFill>
                  <a:srgbClr val="000000"/>
                </a:solidFill>
                <a:latin typeface="Arial"/>
              </a:rPr>
              <a:t>  3. Weighted Softmax Probability Fusion: </a:t>
            </a:r>
            <a:r>
              <a:rPr b="0" sz="1400">
                <a:solidFill>
                  <a:srgbClr val="1E1E1E"/>
                </a:solidFill>
                <a:latin typeface="Arial"/>
              </a:rPr>
              <a:t>P_ensemble = 0.65 · P_Transformer + 0.35 · P_BiLSTM.</a:t>
            </a:r>
          </a:p>
          <a:p>
            <a:pPr lvl="1">
              <a:spcAft>
                <a:spcPts val="600"/>
              </a:spcAft>
              <a:defRPr>
                <a:latin typeface="Arial"/>
              </a:defRPr>
            </a:pPr>
            <a:r>
              <a:rPr b="1" sz="1400">
                <a:solidFill>
                  <a:srgbClr val="000000"/>
                </a:solidFill>
                <a:latin typeface="Arial"/>
              </a:rPr>
              <a:t>  4. 8-Frame Hermite Cubic Transition Spline: </a:t>
            </a:r>
            <a:r>
              <a:rPr b="0" sz="1400">
                <a:solidFill>
                  <a:srgbClr val="1E1E1E"/>
                </a:solidFill>
                <a:latin typeface="Arial"/>
              </a:rPr>
              <a:t>H(t) = (2t³ - 3t² + 1)P₀ + (-2t³ + 3t²)P₁ for C¹ continuous avatar trajectory blending.</a:t>
            </a:r>
          </a:p>
          <a:p>
            <a:pPr>
              <a:spcAft>
                <a:spcPts val="600"/>
              </a:spcAft>
              <a:defRPr>
                <a:latin typeface="Arial"/>
              </a:defRPr>
            </a:pPr>
            <a:r>
              <a:rPr b="1" sz="1500">
                <a:solidFill>
                  <a:srgbClr val="000000"/>
                </a:solidFill>
                <a:latin typeface="Arial"/>
              </a:rPr>
              <a:t>• Model Pipeline: </a:t>
            </a:r>
            <a:r>
              <a:rPr b="0" sz="1500">
                <a:solidFill>
                  <a:srgbClr val="1E1E1E"/>
                </a:solidFill>
                <a:latin typeface="Arial"/>
              </a:rPr>
              <a:t>Raw Webcam Stream (30 FPS) → MediaPipe Holistic → Normalizer (T=60, 225) → Dual Neural Ensemble → Confidence Gate → Live Transcription Tape → NLP Sentence Formulator → Web Speech TTS.</a:t>
            </a:r>
          </a:p>
          <a:p>
            <a:pPr>
              <a:spcAft>
                <a:spcPts val="400"/>
              </a:spcAft>
              <a:defRPr>
                <a:latin typeface="Arial"/>
              </a:defRPr>
            </a:pPr>
            <a:r>
              <a:rPr b="1" sz="1500">
                <a:solidFill>
                  <a:srgbClr val="000000"/>
                </a:solidFill>
                <a:latin typeface="Arial"/>
              </a:rPr>
              <a:t>• Tools &amp; Technologies: </a:t>
            </a:r>
            <a:r>
              <a:rPr b="0" sz="1500">
                <a:solidFill>
                  <a:srgbClr val="1E1E1E"/>
                </a:solidFill>
                <a:latin typeface="Arial"/>
              </a:rPr>
              <a:t>Python 3.11, TensorFlow 2.16, Keras, MediaPipe Holistic, OpenCV, Flask 3.0 REST API, Three.js (WebGL), Web Speech API, NumPy, SciPy.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latin typeface="Arial"/>
              </a:defRPr>
            </a:pPr>
            <a:r>
              <a:t>Model Comparison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8046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latin typeface="Arial"/>
              </a:defRPr>
            </a:pPr>
            <a:r>
              <a:t>• Comparison of All Models (WLASL-100 Benchmark Evaluation Table)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371600"/>
          <a:ext cx="841248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914400"/>
                <a:gridCol w="914400"/>
                <a:gridCol w="822960"/>
                <a:gridCol w="822960"/>
                <a:gridCol w="914400"/>
                <a:gridCol w="1097280"/>
                <a:gridCol w="914400"/>
              </a:tblGrid>
              <a:tr h="731520"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Model Architecture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Top-1 Acc.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Top-5 Acc.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Precision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Recall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Macro F1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CPU Latency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Params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1E1E1E"/>
                          </a:solidFill>
                          <a:latin typeface="Arial"/>
                        </a:defRPr>
                      </a:pPr>
                      <a:r>
                        <a:t>Spatial-Temporal Transformer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1E1E1E"/>
                          </a:solidFill>
                          <a:latin typeface="Arial"/>
                        </a:defRPr>
                      </a:pPr>
                      <a:r>
                        <a:t>33.22%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1E1E1E"/>
                          </a:solidFill>
                          <a:latin typeface="Arial"/>
                        </a:defRPr>
                      </a:pPr>
                      <a:r>
                        <a:t>65.82%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1E1E1E"/>
                          </a:solidFill>
                          <a:latin typeface="Arial"/>
                        </a:defRPr>
                      </a:pPr>
                      <a:r>
                        <a:t>0.328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1E1E1E"/>
                          </a:solidFill>
                          <a:latin typeface="Arial"/>
                        </a:defRPr>
                      </a:pPr>
                      <a:r>
                        <a:t>0.332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1E1E1E"/>
                          </a:solidFill>
                          <a:latin typeface="Arial"/>
                        </a:defRPr>
                      </a:pPr>
                      <a:r>
                        <a:t>0.321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1E1E1E"/>
                          </a:solidFill>
                          <a:latin typeface="Arial"/>
                        </a:defRPr>
                      </a:pPr>
                      <a:r>
                        <a:t>46.2 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1E1E1E"/>
                          </a:solidFill>
                          <a:latin typeface="Arial"/>
                        </a:defRPr>
                      </a:pPr>
                      <a:r>
                        <a:t>312K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1E1E1E"/>
                          </a:solidFill>
                          <a:latin typeface="Arial"/>
                        </a:defRPr>
                      </a:pPr>
                      <a:r>
                        <a:t>Optimized Bidirectional LSTM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1E1E1E"/>
                          </a:solidFill>
                          <a:latin typeface="Arial"/>
                        </a:defRPr>
                      </a:pPr>
                      <a:r>
                        <a:t>31.01%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1E1E1E"/>
                          </a:solidFill>
                          <a:latin typeface="Arial"/>
                        </a:defRPr>
                      </a:pPr>
                      <a:r>
                        <a:t>62.97%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1E1E1E"/>
                          </a:solidFill>
                          <a:latin typeface="Arial"/>
                        </a:defRPr>
                      </a:pPr>
                      <a:r>
                        <a:t>0.305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1E1E1E"/>
                          </a:solidFill>
                          <a:latin typeface="Arial"/>
                        </a:defRPr>
                      </a:pPr>
                      <a:r>
                        <a:t>0.310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1E1E1E"/>
                          </a:solidFill>
                          <a:latin typeface="Arial"/>
                        </a:defRPr>
                      </a:pPr>
                      <a:r>
                        <a:t>0.301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1E1E1E"/>
                          </a:solidFill>
                          <a:latin typeface="Arial"/>
                        </a:defRPr>
                      </a:pPr>
                      <a:r>
                        <a:t>38.1 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1E1E1E"/>
                          </a:solidFill>
                          <a:latin typeface="Arial"/>
                        </a:defRPr>
                      </a:pPr>
                      <a:r>
                        <a:t>586K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1E1E1E"/>
                          </a:solidFill>
                          <a:latin typeface="Arial"/>
                        </a:defRPr>
                      </a:pPr>
                      <a:r>
                        <a:t>Proposed Dual Ensemble (OmniSign 3D)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1E1E1E"/>
                          </a:solidFill>
                          <a:latin typeface="Arial"/>
                        </a:defRPr>
                      </a:pPr>
                      <a:r>
                        <a:t>34.88%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1E1E1E"/>
                          </a:solidFill>
                          <a:latin typeface="Arial"/>
                        </a:defRPr>
                      </a:pPr>
                      <a:r>
                        <a:t>67.83%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1E1E1E"/>
                          </a:solidFill>
                          <a:latin typeface="Arial"/>
                        </a:defRPr>
                      </a:pPr>
                      <a:r>
                        <a:t>0.345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1E1E1E"/>
                          </a:solidFill>
                          <a:latin typeface="Arial"/>
                        </a:defRPr>
                      </a:pPr>
                      <a:r>
                        <a:t>0.349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1E1E1E"/>
                          </a:solidFill>
                          <a:latin typeface="Arial"/>
                        </a:defRPr>
                      </a:pPr>
                      <a:r>
                        <a:t>0.341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1E1E1E"/>
                          </a:solidFill>
                          <a:latin typeface="Arial"/>
                        </a:defRPr>
                      </a:pPr>
                      <a:r>
                        <a:t>78.4 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1E1E1E"/>
                          </a:solidFill>
                          <a:latin typeface="Arial"/>
                        </a:defRPr>
                      </a:pPr>
                      <a:r>
                        <a:t>898K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1E1E1E"/>
                          </a:solidFill>
                          <a:latin typeface="Arial"/>
                        </a:defRPr>
                      </a:pPr>
                      <a:r>
                        <a:t>I3D ConvNet Baseline (Li et al.)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1E1E1E"/>
                          </a:solidFill>
                          <a:latin typeface="Arial"/>
                        </a:defRPr>
                      </a:pPr>
                      <a:r>
                        <a:t>32.48%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1E1E1E"/>
                          </a:solidFill>
                          <a:latin typeface="Arial"/>
                        </a:defRPr>
                      </a:pPr>
                      <a:r>
                        <a:t>57.34%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1E1E1E"/>
                          </a:solidFill>
                          <a:latin typeface="Arial"/>
                        </a:defRPr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1E1E1E"/>
                          </a:solidFill>
                          <a:latin typeface="Arial"/>
                        </a:defRPr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1E1E1E"/>
                          </a:solidFill>
                          <a:latin typeface="Arial"/>
                        </a:defRPr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1E1E1E"/>
                          </a:solidFill>
                          <a:latin typeface="Arial"/>
                        </a:defRPr>
                      </a:pPr>
                      <a:r>
                        <a:t>265.0 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1E1E1E"/>
                          </a:solidFill>
                          <a:latin typeface="Arial"/>
                        </a:defRPr>
                      </a:pPr>
                      <a:r>
                        <a:t>25.4M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1E1E1E"/>
                          </a:solidFill>
                          <a:latin typeface="Arial"/>
                        </a:defRPr>
                      </a:pPr>
                      <a:r>
                        <a:t>TGCN Graph Net Baseline (Li et al.)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1E1E1E"/>
                          </a:solidFill>
                          <a:latin typeface="Arial"/>
                        </a:defRPr>
                      </a:pPr>
                      <a:r>
                        <a:t>22.38%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1E1E1E"/>
                          </a:solidFill>
                          <a:latin typeface="Arial"/>
                        </a:defRPr>
                      </a:pPr>
                      <a:r>
                        <a:t>45.88%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1E1E1E"/>
                          </a:solidFill>
                          <a:latin typeface="Arial"/>
                        </a:defRPr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1E1E1E"/>
                          </a:solidFill>
                          <a:latin typeface="Arial"/>
                        </a:defRPr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1E1E1E"/>
                          </a:solidFill>
                          <a:latin typeface="Arial"/>
                        </a:defRPr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1E1E1E"/>
                          </a:solidFill>
                          <a:latin typeface="Arial"/>
                        </a:defRPr>
                      </a:pPr>
                      <a:r>
                        <a:t>110.0 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1E1E1E"/>
                          </a:solidFill>
                          <a:latin typeface="Arial"/>
                        </a:defRPr>
                      </a:pPr>
                      <a:r>
                        <a:t>1.8M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58521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A365D"/>
                </a:solidFill>
              </a:defRPr>
            </a:pPr>
            <a:r>
              <a:t>Key Takeaway: The proposed ensemble achieves +2.40% higher Top-1 and +10.49% higher Top-5 accuracy than the benchmark I3D model while delivering a 3.38x speedup (78.4 ms vs 265 ms), enabling CPU execution.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0000"/>
                </a:solidFill>
                <a:latin typeface="Arial"/>
              </a:defRPr>
            </a:pPr>
            <a:r>
              <a:t>Best Model &amp; Justification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7680960" cy="530352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spcAft>
                <a:spcPts val="600"/>
              </a:spcAft>
              <a:defRPr>
                <a:latin typeface="Arial"/>
              </a:defRPr>
            </a:pPr>
            <a:r>
              <a:rPr b="1" sz="1600">
                <a:solidFill>
                  <a:srgbClr val="000000"/>
                </a:solidFill>
                <a:latin typeface="Arial"/>
              </a:rPr>
              <a:t>• Selected Best Model: </a:t>
            </a:r>
            <a:r>
              <a:rPr b="0" sz="1600">
                <a:solidFill>
                  <a:srgbClr val="1E1E1E"/>
                </a:solidFill>
                <a:latin typeface="Arial"/>
              </a:rPr>
              <a:t>Weighted Dual Neural Ensemble (65% Spatial-Temporal Transformer + 35% Optimized Bidirectional LSTM).</a:t>
            </a:r>
          </a:p>
          <a:p>
            <a:pPr>
              <a:spcAft>
                <a:spcPts val="200"/>
              </a:spcAft>
              <a:defRPr>
                <a:latin typeface="Arial"/>
              </a:defRPr>
            </a:pPr>
            <a:r>
              <a:rPr b="1" sz="1600">
                <a:solidFill>
                  <a:srgbClr val="000000"/>
                </a:solidFill>
                <a:latin typeface="Arial"/>
              </a:rPr>
              <a:t>• Quantitative Evaluation Metrics: </a:t>
            </a:r>
            <a:r>
              <a:rPr b="0" sz="1600">
                <a:solidFill>
                  <a:srgbClr val="1E1E1E"/>
                </a:solidFill>
                <a:latin typeface="Arial"/>
              </a:rPr>
              <a:t/>
            </a:r>
          </a:p>
          <a:p>
            <a:pPr lvl="1">
              <a:spcAft>
                <a:spcPts val="200"/>
              </a:spcAft>
              <a:defRPr>
                <a:latin typeface="Arial"/>
              </a:defRPr>
            </a:pPr>
            <a:r>
              <a:rPr b="1" sz="1400">
                <a:solidFill>
                  <a:srgbClr val="000000"/>
                </a:solidFill>
                <a:latin typeface="Arial"/>
              </a:rPr>
              <a:t>  - Top-1 Recognition Accuracy: </a:t>
            </a:r>
            <a:r>
              <a:rPr b="0" sz="1400">
                <a:solidFill>
                  <a:srgbClr val="1E1E1E"/>
                </a:solidFill>
                <a:latin typeface="Arial"/>
              </a:rPr>
              <a:t>34.88% (highest among all tested models)</a:t>
            </a:r>
          </a:p>
          <a:p>
            <a:pPr lvl="1">
              <a:spcAft>
                <a:spcPts val="200"/>
              </a:spcAft>
              <a:defRPr>
                <a:latin typeface="Arial"/>
              </a:defRPr>
            </a:pPr>
            <a:r>
              <a:rPr b="1" sz="1400">
                <a:solidFill>
                  <a:srgbClr val="000000"/>
                </a:solidFill>
                <a:latin typeface="Arial"/>
              </a:rPr>
              <a:t>  - Top-5 Recognition Accuracy: </a:t>
            </a:r>
            <a:r>
              <a:rPr b="0" sz="1400">
                <a:solidFill>
                  <a:srgbClr val="1E1E1E"/>
                </a:solidFill>
                <a:latin typeface="Arial"/>
              </a:rPr>
              <a:t>67.83% (provides highly usable candidate selections in UI)</a:t>
            </a:r>
          </a:p>
          <a:p>
            <a:pPr lvl="1">
              <a:spcAft>
                <a:spcPts val="200"/>
              </a:spcAft>
              <a:defRPr>
                <a:latin typeface="Arial"/>
              </a:defRPr>
            </a:pPr>
            <a:r>
              <a:rPr b="1" sz="1400">
                <a:solidFill>
                  <a:srgbClr val="000000"/>
                </a:solidFill>
                <a:latin typeface="Arial"/>
              </a:rPr>
              <a:t>  - Inference Latency: </a:t>
            </a:r>
            <a:r>
              <a:rPr b="0" sz="1400">
                <a:solidFill>
                  <a:srgbClr val="1E1E1E"/>
                </a:solidFill>
                <a:latin typeface="Arial"/>
              </a:rPr>
              <a:t>78.4 ms sustained on standard CPU (zero GPU requirement)</a:t>
            </a:r>
          </a:p>
          <a:p>
            <a:pPr lvl="1">
              <a:spcAft>
                <a:spcPts val="600"/>
              </a:spcAft>
              <a:defRPr>
                <a:latin typeface="Arial"/>
              </a:defRPr>
            </a:pPr>
            <a:r>
              <a:rPr b="1" sz="1400">
                <a:solidFill>
                  <a:srgbClr val="000000"/>
                </a:solidFill>
                <a:latin typeface="Arial"/>
              </a:rPr>
              <a:t>  - Model Parameter Footprint: </a:t>
            </a:r>
            <a:r>
              <a:rPr b="0" sz="1400">
                <a:solidFill>
                  <a:srgbClr val="1E1E1E"/>
                </a:solidFill>
                <a:latin typeface="Arial"/>
              </a:rPr>
              <a:t>898,000 parameters (28x smaller than standard I3D 25.4M parameters)</a:t>
            </a:r>
          </a:p>
          <a:p>
            <a:pPr>
              <a:spcAft>
                <a:spcPts val="200"/>
              </a:spcAft>
              <a:defRPr>
                <a:latin typeface="Arial"/>
              </a:defRPr>
            </a:pPr>
            <a:r>
              <a:rPr b="1" sz="1600">
                <a:solidFill>
                  <a:srgbClr val="000000"/>
                </a:solidFill>
                <a:latin typeface="Arial"/>
              </a:rPr>
              <a:t>• Technical Justification for Selection: </a:t>
            </a:r>
            <a:r>
              <a:rPr b="0" sz="1600">
                <a:solidFill>
                  <a:srgbClr val="1E1E1E"/>
                </a:solidFill>
                <a:latin typeface="Arial"/>
              </a:rPr>
              <a:t/>
            </a:r>
          </a:p>
          <a:p>
            <a:pPr lvl="1">
              <a:spcAft>
                <a:spcPts val="300"/>
              </a:spcAft>
              <a:defRPr>
                <a:latin typeface="Arial"/>
              </a:defRPr>
            </a:pPr>
            <a:r>
              <a:rPr b="1" sz="1400">
                <a:solidFill>
                  <a:srgbClr val="000000"/>
                </a:solidFill>
                <a:latin typeface="Arial"/>
              </a:rPr>
              <a:t>  1. Complementary Inductive Biases: </a:t>
            </a:r>
            <a:r>
              <a:rPr b="0" sz="1400">
                <a:solidFill>
                  <a:srgbClr val="1E1E1E"/>
                </a:solidFill>
                <a:latin typeface="Arial"/>
              </a:rPr>
              <a:t>Transformer captures long-range non-adjacent frame dependencies (initial prep vs terminal touch); BiLSTM enforces local continuous temporal smoothness.</a:t>
            </a:r>
          </a:p>
          <a:p>
            <a:pPr lvl="1">
              <a:spcAft>
                <a:spcPts val="300"/>
              </a:spcAft>
              <a:defRPr>
                <a:latin typeface="Arial"/>
              </a:defRPr>
            </a:pPr>
            <a:r>
              <a:rPr b="1" sz="1400">
                <a:solidFill>
                  <a:srgbClr val="000000"/>
                </a:solidFill>
                <a:latin typeface="Arial"/>
              </a:rPr>
              <a:t>  2. Variance Reduction via Softmax Fusion: </a:t>
            </a:r>
            <a:r>
              <a:rPr b="0" sz="1400">
                <a:solidFill>
                  <a:srgbClr val="1E1E1E"/>
                </a:solidFill>
                <a:latin typeface="Arial"/>
              </a:rPr>
              <a:t>Weighted probability averaging eliminates overconfident false spikes produced by single branches.</a:t>
            </a:r>
          </a:p>
          <a:p>
            <a:pPr lvl="1">
              <a:spcAft>
                <a:spcPts val="400"/>
              </a:spcAft>
              <a:defRPr>
                <a:latin typeface="Arial"/>
              </a:defRPr>
            </a:pPr>
            <a:r>
              <a:rPr b="1" sz="1400">
                <a:solidFill>
                  <a:srgbClr val="000000"/>
                </a:solidFill>
                <a:latin typeface="Arial"/>
              </a:rPr>
              <a:t>  3. Real-Time Web Deployment: </a:t>
            </a:r>
            <a:r>
              <a:rPr b="0" sz="1400">
                <a:solidFill>
                  <a:srgbClr val="1E1E1E"/>
                </a:solidFill>
                <a:latin typeface="Arial"/>
              </a:rPr>
              <a:t>Sub-80ms execution enables continuous sliding-window inference at 30 FPS directly inside modern browsers.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latin typeface="Arial"/>
              </a:defRPr>
            </a:pPr>
            <a:r>
              <a:t>Results &amp; Analysis</a:t>
            </a:r>
          </a:p>
        </p:txBody>
      </p:sp>
      <p:pic>
        <p:nvPicPr>
          <p:cNvPr id="3" name="Picture 2" descr="fig2_training_validation_cur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4023360" cy="2560320"/>
          </a:xfrm>
          <a:prstGeom prst="rect">
            <a:avLst/>
          </a:prstGeom>
        </p:spPr>
      </p:pic>
      <p:pic>
        <p:nvPicPr>
          <p:cNvPr id="4" name="Picture 3" descr="fig3_confusion_matri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3440" y="1188720"/>
            <a:ext cx="4023360" cy="25603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393192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>
                <a:latin typeface="Arial"/>
              </a:defRPr>
            </a:pPr>
            <a:r>
              <a:rPr b="1" sz="1300">
                <a:solidFill>
                  <a:srgbClr val="000000"/>
                </a:solidFill>
                <a:latin typeface="Arial"/>
              </a:rPr>
              <a:t>• Training &amp; Validation Dynamics: </a:t>
            </a:r>
            <a:r>
              <a:rPr b="0" sz="1300">
                <a:solidFill>
                  <a:srgbClr val="1E1E1E"/>
                </a:solidFill>
                <a:latin typeface="Arial"/>
              </a:rPr>
              <a:t>Categorical cross-entropy steadily converged over 50 epochs, reaching validation loss of 1.12 with no severe overfitting due to LayerNorm and Dropout.</a:t>
            </a:r>
          </a:p>
          <a:p>
            <a:pPr>
              <a:spcAft>
                <a:spcPts val="300"/>
              </a:spcAft>
              <a:defRPr>
                <a:latin typeface="Arial"/>
              </a:defRPr>
            </a:pPr>
            <a:r>
              <a:rPr b="1" sz="1300">
                <a:solidFill>
                  <a:srgbClr val="000000"/>
                </a:solidFill>
                <a:latin typeface="Arial"/>
              </a:rPr>
              <a:t>• Confusion Matrix &amp; Minimal Pairs Analysis: </a:t>
            </a:r>
            <a:r>
              <a:rPr b="0" sz="1300">
                <a:solidFill>
                  <a:srgbClr val="1E1E1E"/>
                </a:solidFill>
                <a:latin typeface="Arial"/>
              </a:rPr>
              <a:t>Misclassifications are heavily concentrated in linguistically identical handshape minimal pairs differing only in touch location: 'mother' vs 'father' (18.2% confusion - chin vs forehead) and 'drink' vs 'eat' (14.5% confusion - mouth trajectory).</a:t>
            </a:r>
          </a:p>
          <a:p>
            <a:pPr>
              <a:spcAft>
                <a:spcPts val="200"/>
              </a:spcAft>
              <a:defRPr>
                <a:latin typeface="Arial"/>
              </a:defRPr>
            </a:pPr>
            <a:r>
              <a:rPr b="1" sz="1300">
                <a:solidFill>
                  <a:srgbClr val="000000"/>
                </a:solidFill>
                <a:latin typeface="Arial"/>
              </a:rPr>
              <a:t>• Key Observation: </a:t>
            </a:r>
            <a:r>
              <a:rPr b="0" sz="1300">
                <a:solidFill>
                  <a:srgbClr val="1E1E1E"/>
                </a:solidFill>
                <a:latin typeface="Arial"/>
              </a:rPr>
              <a:t>The 225-point landmark vector successfully discards illumination, skin tone, and background clutter, achieving robust signer-invariant feature extraction.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0000"/>
                </a:solidFill>
                <a:latin typeface="Arial"/>
              </a:defRPr>
            </a:pPr>
            <a:r>
              <a:t>System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7680960" cy="530352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spcAft>
                <a:spcPts val="300"/>
              </a:spcAft>
              <a:defRPr>
                <a:latin typeface="Arial"/>
              </a:defRPr>
            </a:pPr>
            <a:r>
              <a:rPr b="1" sz="1600">
                <a:solidFill>
                  <a:srgbClr val="000000"/>
                </a:solidFill>
                <a:latin typeface="Arial"/>
              </a:rPr>
              <a:t>• Live Demo Capabilities &amp; UI Layout: </a:t>
            </a:r>
            <a:r>
              <a:rPr b="0" sz="1600">
                <a:solidFill>
                  <a:srgbClr val="1E1E1E"/>
                </a:solidFill>
                <a:latin typeface="Arial"/>
              </a:rPr>
              <a:t/>
            </a:r>
          </a:p>
          <a:p>
            <a:pPr lvl="1">
              <a:spcAft>
                <a:spcPts val="300"/>
              </a:spcAft>
              <a:defRPr>
                <a:latin typeface="Arial"/>
              </a:defRPr>
            </a:pPr>
            <a:r>
              <a:rPr b="1" sz="1400">
                <a:solidFill>
                  <a:srgbClr val="000000"/>
                </a:solidFill>
                <a:latin typeface="Arial"/>
              </a:rPr>
              <a:t>  - Split-Screen HUD: </a:t>
            </a:r>
            <a:r>
              <a:rPr b="0" sz="1400">
                <a:solidFill>
                  <a:srgbClr val="1E1E1E"/>
                </a:solidFill>
                <a:latin typeface="Arial"/>
              </a:rPr>
              <a:t>Webcam perception panel on the left (bounding landmarks &amp; Top-5 radar) + Three.js 3D character viewport on the right.</a:t>
            </a:r>
          </a:p>
          <a:p>
            <a:pPr lvl="1">
              <a:spcAft>
                <a:spcPts val="300"/>
              </a:spcAft>
              <a:defRPr>
                <a:latin typeface="Arial"/>
              </a:defRPr>
            </a:pPr>
            <a:r>
              <a:rPr b="1" sz="1400">
                <a:solidFill>
                  <a:srgbClr val="000000"/>
                </a:solidFill>
                <a:latin typeface="Arial"/>
              </a:rPr>
              <a:t>  - Expressive 3D Character ('Leo'): </a:t>
            </a:r>
            <a:r>
              <a:rPr b="0" sz="1400">
                <a:solidFill>
                  <a:srgbClr val="1E1E1E"/>
                </a:solidFill>
                <a:latin typeface="Arial"/>
              </a:rPr>
              <a:t>Pixar-style cartoon avatar featuring 21 articulated finger joints per hand, procedural eye blinks (~3.8s), breathing idle sway, and glowing motion ribbons.</a:t>
            </a:r>
          </a:p>
          <a:p>
            <a:pPr lvl="1">
              <a:spcAft>
                <a:spcPts val="300"/>
              </a:spcAft>
              <a:defRPr>
                <a:latin typeface="Arial"/>
              </a:defRPr>
            </a:pPr>
            <a:r>
              <a:rPr b="1" sz="1400">
                <a:solidFill>
                  <a:srgbClr val="000000"/>
                </a:solidFill>
                <a:latin typeface="Arial"/>
              </a:rPr>
              <a:t>  - Video File Transcriber: </a:t>
            </a:r>
            <a:r>
              <a:rPr b="0" sz="1400">
                <a:solidFill>
                  <a:srgbClr val="1E1E1E"/>
                </a:solidFill>
                <a:latin typeface="Arial"/>
              </a:rPr>
              <a:t>Drag-and-drop video upload (.mp4, .webm) with 60-frame sliding window batch transcription and timestamps.</a:t>
            </a:r>
          </a:p>
          <a:p>
            <a:pPr lvl="1">
              <a:spcAft>
                <a:spcPts val="600"/>
              </a:spcAft>
              <a:defRPr>
                <a:latin typeface="Arial"/>
              </a:defRPr>
            </a:pPr>
            <a:r>
              <a:rPr b="1" sz="1400">
                <a:solidFill>
                  <a:srgbClr val="000000"/>
                </a:solidFill>
                <a:latin typeface="Arial"/>
              </a:rPr>
              <a:t>  - Live Transcription Tape &amp; Audio TTS: </a:t>
            </a:r>
            <a:r>
              <a:rPr b="0" sz="1400">
                <a:solidFill>
                  <a:srgbClr val="1E1E1E"/>
                </a:solidFill>
                <a:latin typeface="Arial"/>
              </a:rPr>
              <a:t>Recognized tokens logged in real time with one-click re-sign animation and spoken audio synthesis.</a:t>
            </a:r>
          </a:p>
          <a:p>
            <a:pPr>
              <a:spcAft>
                <a:spcPts val="300"/>
              </a:spcAft>
              <a:defRPr>
                <a:latin typeface="Arial"/>
              </a:defRPr>
            </a:pPr>
            <a:r>
              <a:rPr b="1" sz="1600">
                <a:solidFill>
                  <a:srgbClr val="000000"/>
                </a:solidFill>
                <a:latin typeface="Arial"/>
              </a:rPr>
              <a:t>• Input-Output Examples: </a:t>
            </a:r>
            <a:r>
              <a:rPr b="0" sz="1600">
                <a:solidFill>
                  <a:srgbClr val="1E1E1E"/>
                </a:solidFill>
                <a:latin typeface="Arial"/>
              </a:rPr>
              <a:t/>
            </a:r>
          </a:p>
          <a:p>
            <a:pPr lvl="1">
              <a:spcAft>
                <a:spcPts val="300"/>
              </a:spcAft>
              <a:defRPr>
                <a:latin typeface="Arial"/>
              </a:defRPr>
            </a:pPr>
            <a:r>
              <a:rPr b="1" sz="1400">
                <a:solidFill>
                  <a:srgbClr val="000000"/>
                </a:solidFill>
                <a:latin typeface="Arial"/>
              </a:rPr>
              <a:t>  - Example 1 (Sign → Text): </a:t>
            </a:r>
            <a:r>
              <a:rPr b="0" sz="1400">
                <a:solidFill>
                  <a:srgbClr val="1E1E1E"/>
                </a:solidFill>
                <a:latin typeface="Arial"/>
              </a:rPr>
              <a:t>User signs [DOCTOR] [GIVE] [MEDICINE] → NLP Formulator outputs: 'The doctor gives medicine.' + Spoken TTS audio.</a:t>
            </a:r>
          </a:p>
          <a:p>
            <a:pPr lvl="1">
              <a:spcAft>
                <a:spcPts val="400"/>
              </a:spcAft>
              <a:defRPr>
                <a:latin typeface="Arial"/>
              </a:defRPr>
            </a:pPr>
            <a:r>
              <a:rPr b="1" sz="1400">
                <a:solidFill>
                  <a:srgbClr val="000000"/>
                </a:solidFill>
                <a:latin typeface="Arial"/>
              </a:rPr>
              <a:t>  - Example 2 (Text → 3D Sign): </a:t>
            </a:r>
            <a:r>
              <a:rPr b="0" sz="1400">
                <a:solidFill>
                  <a:srgbClr val="1E1E1E"/>
                </a:solidFill>
                <a:latin typeface="Arial"/>
              </a:rPr>
              <a:t>User types: 'Hello my mother wants to drink water.' → Normalizer maps glosses: HELLO, MOTHER, DRINK, WATER (stop-words filtered) → 8-frame Hermite ease-in-out blend generates 264 fluid 3D animation frames.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0000"/>
                </a:solidFill>
                <a:latin typeface="Arial"/>
              </a:defRPr>
            </a:pPr>
            <a:r>
              <a:t>Contribution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7680960" cy="530352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spcAft>
                <a:spcPts val="300"/>
              </a:spcAft>
              <a:defRPr>
                <a:latin typeface="Arial"/>
              </a:defRPr>
            </a:pPr>
            <a:r>
              <a:rPr b="1" sz="1600">
                <a:solidFill>
                  <a:srgbClr val="000000"/>
                </a:solidFill>
                <a:latin typeface="Arial"/>
              </a:rPr>
              <a:t>• What is New in Your Work: </a:t>
            </a:r>
            <a:r>
              <a:rPr b="0" sz="1600">
                <a:solidFill>
                  <a:srgbClr val="1E1E1E"/>
                </a:solidFill>
                <a:latin typeface="Arial"/>
              </a:rPr>
              <a:t/>
            </a:r>
          </a:p>
          <a:p>
            <a:pPr lvl="1">
              <a:spcAft>
                <a:spcPts val="300"/>
              </a:spcAft>
              <a:defRPr>
                <a:latin typeface="Arial"/>
              </a:defRPr>
            </a:pPr>
            <a:r>
              <a:rPr b="1" sz="1400">
                <a:solidFill>
                  <a:srgbClr val="000000"/>
                </a:solidFill>
                <a:latin typeface="Arial"/>
              </a:rPr>
              <a:t>  1. 99.8% Data Volume Reduction: </a:t>
            </a:r>
            <a:r>
              <a:rPr b="0" sz="1400">
                <a:solidFill>
                  <a:srgbClr val="1E1E1E"/>
                </a:solidFill>
                <a:latin typeface="Arial"/>
              </a:rPr>
              <a:t>Replaced 1080p raw video processing with a 225-point normalized holistic vector (Pose, Hands, Lips) running in real time on standard consumer CPUs.</a:t>
            </a:r>
          </a:p>
          <a:p>
            <a:pPr lvl="1">
              <a:spcAft>
                <a:spcPts val="300"/>
              </a:spcAft>
              <a:defRPr>
                <a:latin typeface="Arial"/>
              </a:defRPr>
            </a:pPr>
            <a:r>
              <a:rPr b="1" sz="1400">
                <a:solidFill>
                  <a:srgbClr val="000000"/>
                </a:solidFill>
                <a:latin typeface="Arial"/>
              </a:rPr>
              <a:t>  2. Complementary Dual Ensemble: </a:t>
            </a:r>
            <a:r>
              <a:rPr b="0" sz="1400">
                <a:solidFill>
                  <a:srgbClr val="1E1E1E"/>
                </a:solidFill>
                <a:latin typeface="Arial"/>
              </a:rPr>
              <a:t>Combined the global self-attention of Transformers (65%) with the sequential inductive bias of BiLSTMs (35%) for open-vocabulary ASL.</a:t>
            </a:r>
          </a:p>
          <a:p>
            <a:pPr lvl="1">
              <a:spcAft>
                <a:spcPts val="300"/>
              </a:spcAft>
              <a:defRPr>
                <a:latin typeface="Arial"/>
              </a:defRPr>
            </a:pPr>
            <a:r>
              <a:rPr b="1" sz="1400">
                <a:solidFill>
                  <a:srgbClr val="000000"/>
                </a:solidFill>
                <a:latin typeface="Arial"/>
              </a:rPr>
              <a:t>  3. 8-Frame Hermite Kinematic Blending: </a:t>
            </a:r>
            <a:r>
              <a:rPr b="0" sz="1400">
                <a:solidFill>
                  <a:srgbClr val="1E1E1E"/>
                </a:solidFill>
                <a:latin typeface="Arial"/>
              </a:rPr>
              <a:t>Engineered a cubic ease-in-out transition spline algorithm that completely removes robotic popping between concatenated sign animations.</a:t>
            </a:r>
          </a:p>
          <a:p>
            <a:pPr lvl="1">
              <a:spcAft>
                <a:spcPts val="600"/>
              </a:spcAft>
              <a:defRPr>
                <a:latin typeface="Arial"/>
              </a:defRPr>
            </a:pPr>
            <a:r>
              <a:rPr b="1" sz="1400">
                <a:solidFill>
                  <a:srgbClr val="000000"/>
                </a:solidFill>
                <a:latin typeface="Arial"/>
              </a:rPr>
              <a:t>  4. Complete 2,000 WLASL Sign Library: </a:t>
            </a:r>
            <a:r>
              <a:rPr b="0" sz="1400">
                <a:solidFill>
                  <a:srgbClr val="1E1E1E"/>
                </a:solidFill>
                <a:latin typeface="Arial"/>
              </a:rPr>
              <a:t>Generated lightweight JSON 3D trajectories covering 100% of the WLASL-2000 vocabulary.</a:t>
            </a:r>
          </a:p>
          <a:p>
            <a:pPr>
              <a:spcAft>
                <a:spcPts val="300"/>
              </a:spcAft>
              <a:defRPr>
                <a:latin typeface="Arial"/>
              </a:defRPr>
            </a:pPr>
            <a:r>
              <a:rPr b="1" sz="1600">
                <a:solidFill>
                  <a:srgbClr val="000000"/>
                </a:solidFill>
                <a:latin typeface="Arial"/>
              </a:rPr>
              <a:t>• Improvements Over Existing Methods: </a:t>
            </a:r>
            <a:r>
              <a:rPr b="0" sz="1600">
                <a:solidFill>
                  <a:srgbClr val="1E1E1E"/>
                </a:solidFill>
                <a:latin typeface="Arial"/>
              </a:rPr>
              <a:t/>
            </a:r>
          </a:p>
          <a:p>
            <a:pPr lvl="1">
              <a:spcAft>
                <a:spcPts val="300"/>
              </a:spcAft>
              <a:defRPr>
                <a:latin typeface="Arial"/>
              </a:defRPr>
            </a:pPr>
            <a:r>
              <a:rPr b="1" sz="1400">
                <a:solidFill>
                  <a:srgbClr val="000000"/>
                </a:solidFill>
                <a:latin typeface="Arial"/>
              </a:rPr>
              <a:t>  - Accuracy Gain: </a:t>
            </a:r>
            <a:r>
              <a:rPr b="0" sz="1400">
                <a:solidFill>
                  <a:srgbClr val="1E1E1E"/>
                </a:solidFill>
                <a:latin typeface="Arial"/>
              </a:rPr>
              <a:t>+2.40% Top-1 and +10.49% Top-5 recognition accuracy over published I3D video baseline.</a:t>
            </a:r>
          </a:p>
          <a:p>
            <a:pPr lvl="1">
              <a:spcAft>
                <a:spcPts val="300"/>
              </a:spcAft>
              <a:defRPr>
                <a:latin typeface="Arial"/>
              </a:defRPr>
            </a:pPr>
            <a:r>
              <a:rPr b="1" sz="1400">
                <a:solidFill>
                  <a:srgbClr val="000000"/>
                </a:solidFill>
                <a:latin typeface="Arial"/>
              </a:rPr>
              <a:t>  - Latency Speedup: </a:t>
            </a:r>
            <a:r>
              <a:rPr b="0" sz="1400">
                <a:solidFill>
                  <a:srgbClr val="1E1E1E"/>
                </a:solidFill>
                <a:latin typeface="Arial"/>
              </a:rPr>
              <a:t>3.38x reduction in latency (78.4 ms vs 265 ms), enabling true browser execution without GPU servers.</a:t>
            </a:r>
          </a:p>
          <a:p>
            <a:pPr lvl="1">
              <a:spcAft>
                <a:spcPts val="300"/>
              </a:spcAft>
              <a:defRPr>
                <a:latin typeface="Arial"/>
              </a:defRPr>
            </a:pPr>
            <a:r>
              <a:rPr b="1" sz="1400">
                <a:solidFill>
                  <a:srgbClr val="000000"/>
                </a:solidFill>
                <a:latin typeface="Arial"/>
              </a:rPr>
              <a:t>  - Seamless Bidirectionality: </a:t>
            </a:r>
            <a:r>
              <a:rPr b="0" sz="1400">
                <a:solidFill>
                  <a:srgbClr val="1E1E1E"/>
                </a:solidFill>
                <a:latin typeface="Arial"/>
              </a:rPr>
              <a:t>Bridges vision recognition and 3D avatar animation in a single, responsive web application.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0000"/>
                </a:solidFill>
                <a:latin typeface="Arial"/>
              </a:defRPr>
            </a:pPr>
            <a:r>
              <a:t>Challenges &amp; Solutions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7680960" cy="530352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spcAft>
                <a:spcPts val="200"/>
              </a:spcAft>
            </a:pPr>
            <a:r>
              <a:rPr b="1" sz="1400">
                <a:solidFill>
                  <a:srgbClr val="000000"/>
                </a:solidFill>
              </a:rPr>
              <a:t>• Challenge 1: Overfitting on High-Variance Data: </a:t>
            </a:r>
            <a:r>
              <a:rPr sz="1300">
                <a:solidFill>
                  <a:srgbClr val="1E1E1E"/>
                </a:solidFill>
              </a:rPr>
              <a:t>Small per-class sample size and cross-signer variance caused initial validation divergence.</a:t>
            </a:r>
          </a:p>
          <a:p>
            <a:pPr lvl="1">
              <a:spcAft>
                <a:spcPts val="600"/>
              </a:spcAft>
            </a:pPr>
            <a:r>
              <a:rPr sz="1300">
                <a:solidFill>
                  <a:srgbClr val="1A365D"/>
                </a:solidFill>
              </a:rPr>
              <a:t>➔ Solution: </a:t>
            </a:r>
            <a:r>
              <a:rPr sz="1300">
                <a:solidFill>
                  <a:srgbClr val="1E1E1E"/>
                </a:solidFill>
              </a:rPr>
              <a:t>Introduced Layer Normalization, recurrent dropout (0.4), Spatial Dropout (0.3), and L2 weight decay regularization.</a:t>
            </a:r>
          </a:p>
          <a:p>
            <a:pPr>
              <a:spcAft>
                <a:spcPts val="200"/>
              </a:spcAft>
            </a:pPr>
            <a:r>
              <a:rPr b="1" sz="1400">
                <a:solidFill>
                  <a:srgbClr val="000000"/>
                </a:solidFill>
              </a:rPr>
              <a:t>• Challenge 2: Minimal-Pair Spatial Ambiguity: </a:t>
            </a:r>
            <a:r>
              <a:rPr sz="1300">
                <a:solidFill>
                  <a:srgbClr val="1E1E1E"/>
                </a:solidFill>
              </a:rPr>
              <a:t>Signs sharing handshapes but differing in subtle chin vs forehead touch locations were frequently confused.</a:t>
            </a:r>
          </a:p>
          <a:p>
            <a:pPr lvl="1">
              <a:spcAft>
                <a:spcPts val="600"/>
              </a:spcAft>
            </a:pPr>
            <a:r>
              <a:rPr sz="1300">
                <a:solidFill>
                  <a:srgbClr val="1A365D"/>
                </a:solidFill>
              </a:rPr>
              <a:t>➔ Solution: </a:t>
            </a:r>
            <a:r>
              <a:rPr sz="1300">
                <a:solidFill>
                  <a:srgbClr val="1E1E1E"/>
                </a:solidFill>
              </a:rPr>
              <a:t>Added 24 lip contour landmarks and applied nose-centered anchor translation to retain absolute facial touch coordinates.</a:t>
            </a:r>
          </a:p>
          <a:p>
            <a:pPr>
              <a:spcAft>
                <a:spcPts val="200"/>
              </a:spcAft>
            </a:pPr>
            <a:r>
              <a:rPr b="1" sz="1400">
                <a:solidFill>
                  <a:srgbClr val="000000"/>
                </a:solidFill>
              </a:rPr>
              <a:t>• Challenge 3: Variable Video Speeds &amp; Frame Drops: </a:t>
            </a:r>
            <a:r>
              <a:rPr sz="1300">
                <a:solidFill>
                  <a:srgbClr val="1E1E1E"/>
                </a:solidFill>
              </a:rPr>
              <a:t>Raw user video clips varied from 15 to 90 frames with unstable browser frame rates.</a:t>
            </a:r>
          </a:p>
          <a:p>
            <a:pPr lvl="1">
              <a:spcAft>
                <a:spcPts val="600"/>
              </a:spcAft>
            </a:pPr>
            <a:r>
              <a:rPr sz="1300">
                <a:solidFill>
                  <a:srgbClr val="1A365D"/>
                </a:solidFill>
              </a:rPr>
              <a:t>➔ Solution: </a:t>
            </a:r>
            <a:r>
              <a:rPr sz="1300">
                <a:solidFill>
                  <a:srgbClr val="1E1E1E"/>
                </a:solidFill>
              </a:rPr>
              <a:t>Implemented linear temporal resampling to standardize all feature sequences into a uniform tensor window of T = 60 frames.</a:t>
            </a:r>
          </a:p>
          <a:p>
            <a:pPr>
              <a:spcAft>
                <a:spcPts val="200"/>
              </a:spcAft>
            </a:pPr>
            <a:r>
              <a:rPr b="1" sz="1400">
                <a:solidFill>
                  <a:srgbClr val="000000"/>
                </a:solidFill>
              </a:rPr>
              <a:t>• Challenge 4: Avatar Joint Popping &amp; Kinematic Jerk: </a:t>
            </a:r>
            <a:r>
              <a:rPr sz="1300">
                <a:solidFill>
                  <a:srgbClr val="1E1E1E"/>
                </a:solidFill>
              </a:rPr>
              <a:t>Concatenating isolated sign trajectory clips created discontinuous robotic jumps in Three.js.</a:t>
            </a:r>
          </a:p>
          <a:p>
            <a:pPr lvl="1">
              <a:spcAft>
                <a:spcPts val="600"/>
              </a:spcAft>
            </a:pPr>
            <a:r>
              <a:rPr sz="1300">
                <a:solidFill>
                  <a:srgbClr val="1A365D"/>
                </a:solidFill>
              </a:rPr>
              <a:t>➔ Solution: </a:t>
            </a:r>
            <a:r>
              <a:rPr sz="1300">
                <a:solidFill>
                  <a:srgbClr val="1E1E1E"/>
                </a:solidFill>
              </a:rPr>
              <a:t>Formulated an 8-frame Hermite cubic ease-in-out spline interpolation with zero velocity tangents (M₀ = M₁ = 0).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0000"/>
                </a:solidFill>
                <a:latin typeface="Arial"/>
              </a:defRPr>
            </a:pPr>
            <a:r>
              <a:t>Future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7680960" cy="530352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spcAft>
                <a:spcPts val="300"/>
              </a:spcAft>
              <a:defRPr>
                <a:latin typeface="Arial"/>
              </a:defRPr>
            </a:pPr>
            <a:r>
              <a:rPr b="1" sz="1600">
                <a:solidFill>
                  <a:srgbClr val="000000"/>
                </a:solidFill>
                <a:latin typeface="Arial"/>
              </a:rPr>
              <a:t>• Possible Improvements: </a:t>
            </a:r>
            <a:r>
              <a:rPr b="0" sz="1600">
                <a:solidFill>
                  <a:srgbClr val="1E1E1E"/>
                </a:solidFill>
                <a:latin typeface="Arial"/>
              </a:rPr>
              <a:t/>
            </a:r>
          </a:p>
          <a:p>
            <a:pPr lvl="1">
              <a:spcAft>
                <a:spcPts val="400"/>
              </a:spcAft>
              <a:defRPr>
                <a:latin typeface="Arial"/>
              </a:defRPr>
            </a:pPr>
            <a:r>
              <a:rPr b="1" sz="1400">
                <a:solidFill>
                  <a:srgbClr val="000000"/>
                </a:solidFill>
                <a:latin typeface="Arial"/>
              </a:rPr>
              <a:t>  1. Continuous Sign Language Translation (CSLT): </a:t>
            </a:r>
            <a:r>
              <a:rPr b="0" sz="1400">
                <a:solidFill>
                  <a:srgbClr val="1E1E1E"/>
                </a:solidFill>
                <a:latin typeface="Arial"/>
              </a:rPr>
              <a:t>Upgrade from isolated word spotting to continuous sentence translation using Connectionist Temporal Classification (CTC) or autoregressive Transformers.</a:t>
            </a:r>
          </a:p>
          <a:p>
            <a:pPr lvl="1">
              <a:spcAft>
                <a:spcPts val="400"/>
              </a:spcAft>
              <a:defRPr>
                <a:latin typeface="Arial"/>
              </a:defRPr>
            </a:pPr>
            <a:r>
              <a:rPr b="1" sz="1400">
                <a:solidFill>
                  <a:srgbClr val="000000"/>
                </a:solidFill>
                <a:latin typeface="Arial"/>
              </a:rPr>
              <a:t>  2. 52 Facial Blendshapes (Action Units): </a:t>
            </a:r>
            <a:r>
              <a:rPr b="0" sz="1400">
                <a:solidFill>
                  <a:srgbClr val="1E1E1E"/>
                </a:solidFill>
                <a:latin typeface="Arial"/>
              </a:rPr>
              <a:t>Incorporate facial blendshapes for rich affective non-manual markers (eyebrow raises, squinting, head tilts).</a:t>
            </a:r>
          </a:p>
          <a:p>
            <a:pPr lvl="1">
              <a:spcAft>
                <a:spcPts val="600"/>
              </a:spcAft>
              <a:defRPr>
                <a:latin typeface="Arial"/>
              </a:defRPr>
            </a:pPr>
            <a:r>
              <a:rPr b="1" sz="1400">
                <a:solidFill>
                  <a:srgbClr val="000000"/>
                </a:solidFill>
                <a:latin typeface="Arial"/>
              </a:rPr>
              <a:t>  3. Synthetic Data Augmentation: </a:t>
            </a:r>
            <a:r>
              <a:rPr b="0" sz="1400">
                <a:solidFill>
                  <a:srgbClr val="1E1E1E"/>
                </a:solidFill>
                <a:latin typeface="Arial"/>
              </a:rPr>
              <a:t>Generate synthetic landmark trajectories via 3D spatial rotation, jittering, and temporal warping to boost minimal-pair accuracy.</a:t>
            </a:r>
          </a:p>
          <a:p>
            <a:pPr>
              <a:spcAft>
                <a:spcPts val="300"/>
              </a:spcAft>
              <a:defRPr>
                <a:latin typeface="Arial"/>
              </a:defRPr>
            </a:pPr>
            <a:r>
              <a:rPr b="1" sz="1600">
                <a:solidFill>
                  <a:srgbClr val="000000"/>
                </a:solidFill>
                <a:latin typeface="Arial"/>
              </a:rPr>
              <a:t>• Extension Ideas: </a:t>
            </a:r>
            <a:r>
              <a:rPr b="0" sz="1600">
                <a:solidFill>
                  <a:srgbClr val="1E1E1E"/>
                </a:solidFill>
                <a:latin typeface="Arial"/>
              </a:rPr>
              <a:t/>
            </a:r>
          </a:p>
          <a:p>
            <a:pPr lvl="1">
              <a:spcAft>
                <a:spcPts val="400"/>
              </a:spcAft>
              <a:defRPr>
                <a:latin typeface="Arial"/>
              </a:defRPr>
            </a:pPr>
            <a:r>
              <a:rPr b="1" sz="1400">
                <a:solidFill>
                  <a:srgbClr val="000000"/>
                </a:solidFill>
                <a:latin typeface="Arial"/>
              </a:rPr>
              <a:t>  1. Mobile Edge Quantization: </a:t>
            </a:r>
            <a:r>
              <a:rPr b="0" sz="1400">
                <a:solidFill>
                  <a:srgbClr val="1E1E1E"/>
                </a:solidFill>
                <a:latin typeface="Arial"/>
              </a:rPr>
              <a:t>Export model weights to INT8 via TensorFlow Lite / ONNX Web runtime for completely offline smartphone apps.</a:t>
            </a:r>
          </a:p>
          <a:p>
            <a:pPr lvl="1">
              <a:spcAft>
                <a:spcPts val="400"/>
              </a:spcAft>
              <a:defRPr>
                <a:latin typeface="Arial"/>
              </a:defRPr>
            </a:pPr>
            <a:r>
              <a:rPr b="1" sz="1400">
                <a:solidFill>
                  <a:srgbClr val="000000"/>
                </a:solidFill>
                <a:latin typeface="Arial"/>
              </a:rPr>
              <a:t>  2. Multilingual Sign Support: </a:t>
            </a:r>
            <a:r>
              <a:rPr b="0" sz="1400">
                <a:solidFill>
                  <a:srgbClr val="1E1E1E"/>
                </a:solidFill>
                <a:latin typeface="Arial"/>
              </a:rPr>
              <a:t>Expand 3D trajectory libraries to Indian Sign Language (ISL) and British Sign Language (BSL).</a:t>
            </a:r>
          </a:p>
          <a:p>
            <a:pPr lvl="1">
              <a:spcAft>
                <a:spcPts val="400"/>
              </a:spcAft>
              <a:defRPr>
                <a:latin typeface="Arial"/>
              </a:defRPr>
            </a:pPr>
            <a:r>
              <a:rPr b="1" sz="1400">
                <a:solidFill>
                  <a:srgbClr val="000000"/>
                </a:solidFill>
                <a:latin typeface="Arial"/>
              </a:rPr>
              <a:t>  3. WebRTC Telehealth Integration: </a:t>
            </a:r>
            <a:r>
              <a:rPr b="0" sz="1400">
                <a:solidFill>
                  <a:srgbClr val="1E1E1E"/>
                </a:solidFill>
                <a:latin typeface="Arial"/>
              </a:rPr>
              <a:t>Deploy as a two-way real-time video relay service for emergency hospital triages and doctor consults.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0000"/>
                </a:solidFill>
                <a:latin typeface="Arial"/>
              </a:defRPr>
            </a:pPr>
            <a:r>
              <a:t>Research Paper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7680960" cy="530352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spcAft>
                <a:spcPts val="300"/>
              </a:spcAft>
              <a:defRPr>
                <a:latin typeface="Arial"/>
              </a:defRPr>
            </a:pPr>
            <a:r>
              <a:rPr b="1" sz="1600">
                <a:solidFill>
                  <a:srgbClr val="000000"/>
                </a:solidFill>
                <a:latin typeface="Arial"/>
              </a:rPr>
              <a:t>• Research Paper Structure Followed: </a:t>
            </a:r>
            <a:r>
              <a:rPr b="0" sz="1600">
                <a:solidFill>
                  <a:srgbClr val="1E1E1E"/>
                </a:solidFill>
                <a:latin typeface="Arial"/>
              </a:rPr>
              <a:t/>
            </a:r>
          </a:p>
          <a:p>
            <a:pPr lvl="1">
              <a:spcAft>
                <a:spcPts val="300"/>
              </a:spcAft>
              <a:defRPr>
                <a:latin typeface="Arial"/>
              </a:defRPr>
            </a:pPr>
            <a:r>
              <a:rPr b="1" sz="1400">
                <a:solidFill>
                  <a:srgbClr val="000000"/>
                </a:solidFill>
                <a:latin typeface="Arial"/>
              </a:rPr>
              <a:t>  - Strict Conformance: </a:t>
            </a:r>
            <a:r>
              <a:rPr b="0" sz="1400">
                <a:solidFill>
                  <a:srgbClr val="1E1E1E"/>
                </a:solidFill>
                <a:latin typeface="Arial"/>
              </a:rPr>
              <a:t>Authored following the official ML Research Paper Format of Dept. of AIML, St. Francis Institute of Technology (SFIT).</a:t>
            </a:r>
          </a:p>
          <a:p>
            <a:pPr lvl="1">
              <a:spcAft>
                <a:spcPts val="300"/>
              </a:spcAft>
              <a:defRPr>
                <a:latin typeface="Arial"/>
              </a:defRPr>
            </a:pPr>
            <a:r>
              <a:rPr b="1" sz="1400">
                <a:solidFill>
                  <a:srgbClr val="000000"/>
                </a:solidFill>
                <a:latin typeface="Arial"/>
              </a:rPr>
              <a:t>  - Document Title: </a:t>
            </a:r>
            <a:r>
              <a:rPr b="0" sz="1400">
                <a:solidFill>
                  <a:srgbClr val="1E1E1E"/>
                </a:solidFill>
                <a:latin typeface="Arial"/>
              </a:rPr>
              <a:t>'OmniSign 3D: Bidirectional American Sign Language Recognition and Kinematic 3D Motion Synthesis Using a Spatial-Temporal Transformer and BiLSTM Neural Ensemble'.</a:t>
            </a:r>
          </a:p>
          <a:p>
            <a:pPr lvl="1">
              <a:spcAft>
                <a:spcPts val="300"/>
              </a:spcAft>
              <a:defRPr>
                <a:latin typeface="Arial"/>
              </a:defRPr>
            </a:pPr>
            <a:r>
              <a:rPr b="1" sz="1400">
                <a:solidFill>
                  <a:srgbClr val="000000"/>
                </a:solidFill>
                <a:latin typeface="Arial"/>
              </a:rPr>
              <a:t>  - 10 Structured Sections: </a:t>
            </a:r>
            <a:r>
              <a:rPr b="0" sz="1400">
                <a:solidFill>
                  <a:srgbClr val="1E1E1E"/>
                </a:solidFill>
                <a:latin typeface="Arial"/>
              </a:rPr>
              <a:t>1. Title, 2. Abstract (221 words), 3. Keywords (6), 4. Introduction (SDG 10, 4, 3 links), 5. Literature Review (7 papers &amp; comparison matrix), 6. Methodology (225-point vector, normalization, ensemble), 7. Results &amp; Discussion (metrics, curves, confusion matrix), 8. Conclusion, 9. Future Work, 10. References (11 IEEE citations).</a:t>
            </a:r>
          </a:p>
          <a:p>
            <a:pPr lvl="1">
              <a:spcAft>
                <a:spcPts val="600"/>
              </a:spcAft>
              <a:defRPr>
                <a:latin typeface="Arial"/>
              </a:defRPr>
            </a:pPr>
            <a:r>
              <a:rPr b="1" sz="1400">
                <a:solidFill>
                  <a:srgbClr val="000000"/>
                </a:solidFill>
                <a:latin typeface="Arial"/>
              </a:rPr>
              <a:t>  - Word Document Artifact: </a:t>
            </a:r>
            <a:r>
              <a:rPr b="0" sz="1400">
                <a:solidFill>
                  <a:srgbClr val="1E1E1E"/>
                </a:solidFill>
                <a:latin typeface="Arial"/>
              </a:rPr>
              <a:t>Generated and finalized as 'OmniSign_3D_Research_Paper_SFIT.docx' (1.35 MB) with 4 high-res 300 DPI figures.</a:t>
            </a:r>
          </a:p>
          <a:p>
            <a:pPr>
              <a:spcAft>
                <a:spcPts val="300"/>
              </a:spcAft>
              <a:defRPr>
                <a:latin typeface="Arial"/>
              </a:defRPr>
            </a:pPr>
            <a:r>
              <a:rPr b="1" sz="1600">
                <a:solidFill>
                  <a:srgbClr val="000000"/>
                </a:solidFill>
                <a:latin typeface="Arial"/>
              </a:rPr>
              <a:t>• Target Conference / Journal: </a:t>
            </a:r>
            <a:r>
              <a:rPr b="0" sz="1600">
                <a:solidFill>
                  <a:srgbClr val="1E1E1E"/>
                </a:solidFill>
                <a:latin typeface="Arial"/>
              </a:rPr>
              <a:t/>
            </a:r>
          </a:p>
          <a:p>
            <a:pPr lvl="1">
              <a:spcAft>
                <a:spcPts val="300"/>
              </a:spcAft>
              <a:defRPr>
                <a:latin typeface="Arial"/>
              </a:defRPr>
            </a:pPr>
            <a:r>
              <a:rPr b="1" sz="1400">
                <a:solidFill>
                  <a:srgbClr val="000000"/>
                </a:solidFill>
                <a:latin typeface="Arial"/>
              </a:rPr>
              <a:t>  - Primary Target: </a:t>
            </a:r>
            <a:r>
              <a:rPr b="0" sz="1400">
                <a:solidFill>
                  <a:srgbClr val="1E1E1E"/>
                </a:solidFill>
                <a:latin typeface="Arial"/>
              </a:rPr>
              <a:t>IEEE Transactions on Human-Machine Systems / IEEE Access (Special Section on AI for Accessibility).</a:t>
            </a:r>
          </a:p>
          <a:p>
            <a:pPr lvl="1">
              <a:spcAft>
                <a:spcPts val="400"/>
              </a:spcAft>
              <a:defRPr>
                <a:latin typeface="Arial"/>
              </a:defRPr>
            </a:pPr>
            <a:r>
              <a:rPr b="1" sz="1400">
                <a:solidFill>
                  <a:srgbClr val="000000"/>
                </a:solidFill>
                <a:latin typeface="Arial"/>
              </a:rPr>
              <a:t>  - Secondary Target: </a:t>
            </a:r>
            <a:r>
              <a:rPr b="0" sz="1400">
                <a:solidFill>
                  <a:srgbClr val="1E1E1E"/>
                </a:solidFill>
                <a:latin typeface="Arial"/>
              </a:rPr>
              <a:t>ACM Transactions on Accessible Computing (TACCESS) / IEEE International Conference on Automatic Face and Gesture Recognition (FG).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0000"/>
                </a:solidFill>
                <a:latin typeface="Arial"/>
              </a:defRPr>
            </a:pPr>
            <a:r>
              <a:t>Phase-3 Deliverables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7680960" cy="530352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spcAft>
                <a:spcPts val="800"/>
              </a:spcAft>
              <a:defRPr>
                <a:latin typeface="Arial"/>
              </a:defRPr>
            </a:pPr>
            <a:r>
              <a:rPr b="1" sz="1500">
                <a:solidFill>
                  <a:srgbClr val="000000"/>
                </a:solidFill>
                <a:latin typeface="Arial"/>
              </a:rPr>
              <a:t>• Final PPT: </a:t>
            </a:r>
            <a:r>
              <a:rPr b="0" sz="1500">
                <a:solidFill>
                  <a:srgbClr val="1E1E1E"/>
                </a:solidFill>
                <a:latin typeface="Arial"/>
              </a:rPr>
              <a:t>Comprehensive 19-slide presentation matching the official SFIT review template ('OmniSign_3D_Phase3_Official_Template.pptx').</a:t>
            </a:r>
          </a:p>
          <a:p>
            <a:pPr>
              <a:spcAft>
                <a:spcPts val="800"/>
              </a:spcAft>
              <a:defRPr>
                <a:latin typeface="Arial"/>
              </a:defRPr>
            </a:pPr>
            <a:r>
              <a:rPr b="1" sz="1500">
                <a:solidFill>
                  <a:srgbClr val="000000"/>
                </a:solidFill>
                <a:latin typeface="Arial"/>
              </a:rPr>
              <a:t>• Working Code &amp; Studio Application: </a:t>
            </a:r>
            <a:r>
              <a:rPr b="0" sz="1500">
                <a:solidFill>
                  <a:srgbClr val="1E1E1E"/>
                </a:solidFill>
                <a:latin typeface="Arial"/>
              </a:rPr>
              <a:t>Full-stack Flask + Three.js application ('app.py', 'index.html', 'live_test.py') with active ensemble inference and 2,000-sign 3D animation.</a:t>
            </a:r>
          </a:p>
          <a:p>
            <a:pPr>
              <a:spcAft>
                <a:spcPts val="800"/>
              </a:spcAft>
              <a:defRPr>
                <a:latin typeface="Arial"/>
              </a:defRPr>
            </a:pPr>
            <a:r>
              <a:rPr b="1" sz="1500">
                <a:solidFill>
                  <a:srgbClr val="000000"/>
                </a:solidFill>
                <a:latin typeface="Arial"/>
              </a:rPr>
              <a:t>• Dataset &amp; Kinematic Trajectories: </a:t>
            </a:r>
            <a:r>
              <a:rPr b="0" sz="1500">
                <a:solidFill>
                  <a:srgbClr val="1E1E1E"/>
                </a:solidFill>
                <a:latin typeface="Arial"/>
              </a:rPr>
              <a:t>WLASL-100 benchmark splits and 100% complete 3D kinematic library of 2,000 WLASL signs in 'static_dataset/*.json'.</a:t>
            </a:r>
          </a:p>
          <a:p>
            <a:pPr>
              <a:spcAft>
                <a:spcPts val="800"/>
              </a:spcAft>
              <a:defRPr>
                <a:latin typeface="Arial"/>
              </a:defRPr>
            </a:pPr>
            <a:r>
              <a:rPr b="1" sz="1500">
                <a:solidFill>
                  <a:srgbClr val="000000"/>
                </a:solidFill>
                <a:latin typeface="Arial"/>
              </a:rPr>
              <a:t>• Public GitHub Repository: </a:t>
            </a:r>
            <a:r>
              <a:rPr b="0" sz="1500">
                <a:solidFill>
                  <a:srgbClr val="1E1E1E"/>
                </a:solidFill>
                <a:latin typeface="Arial"/>
              </a:rPr>
              <a:t>Maintained with detailed commit logs, branches ('main', 'baseline-100-words'), and full documentation at https://github.com/joelvarghese023-ship-it/ASL-translator.git.</a:t>
            </a:r>
          </a:p>
          <a:p>
            <a:pPr>
              <a:spcAft>
                <a:spcPts val="800"/>
              </a:spcAft>
              <a:defRPr>
                <a:latin typeface="Arial"/>
              </a:defRPr>
            </a:pPr>
            <a:r>
              <a:rPr b="1" sz="1500">
                <a:solidFill>
                  <a:srgbClr val="000000"/>
                </a:solidFill>
                <a:latin typeface="Arial"/>
              </a:rPr>
              <a:t>• Research Paper (Mandatory): </a:t>
            </a:r>
            <a:r>
              <a:rPr b="0" sz="1500">
                <a:solidFill>
                  <a:srgbClr val="1E1E1E"/>
                </a:solidFill>
                <a:latin typeface="Arial"/>
              </a:rPr>
              <a:t>Official formatted academic paper ('OmniSign_3D_Research_Paper_SFIT.docx') with embedded high-resolution figures, tables, and IEEE references.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0000"/>
                </a:solidFill>
                <a:latin typeface="Arial"/>
              </a:defRPr>
            </a:pPr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7680960" cy="530352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spcAft>
                <a:spcPts val="300"/>
              </a:spcAft>
              <a:defRPr>
                <a:latin typeface="Arial"/>
              </a:defRPr>
            </a:pPr>
            <a:r>
              <a:rPr b="1" sz="1600">
                <a:solidFill>
                  <a:srgbClr val="000000"/>
                </a:solidFill>
                <a:latin typeface="Arial"/>
              </a:rPr>
              <a:t>• Summary of Work: </a:t>
            </a:r>
            <a:r>
              <a:rPr b="0" sz="1600">
                <a:solidFill>
                  <a:srgbClr val="1E1E1E"/>
                </a:solidFill>
                <a:latin typeface="Arial"/>
              </a:rPr>
              <a:t/>
            </a:r>
          </a:p>
          <a:p>
            <a:pPr lvl="1">
              <a:spcAft>
                <a:spcPts val="300"/>
              </a:spcAft>
              <a:defRPr>
                <a:latin typeface="Arial"/>
              </a:defRPr>
            </a:pPr>
            <a:r>
              <a:rPr b="1" sz="1400">
                <a:solidFill>
                  <a:srgbClr val="000000"/>
                </a:solidFill>
                <a:latin typeface="Arial"/>
              </a:rPr>
              <a:t>  - Bidirectional Translation Studio: </a:t>
            </a:r>
            <a:r>
              <a:rPr b="0" sz="1400">
                <a:solidFill>
                  <a:srgbClr val="1E1E1E"/>
                </a:solidFill>
                <a:latin typeface="Arial"/>
              </a:rPr>
              <a:t>Designed, built, and evaluated OmniSign 3D, uniting real-time computer vision recognition with expressive 3D character synthesis.</a:t>
            </a:r>
          </a:p>
          <a:p>
            <a:pPr lvl="1">
              <a:spcAft>
                <a:spcPts val="300"/>
              </a:spcAft>
              <a:defRPr>
                <a:latin typeface="Arial"/>
              </a:defRPr>
            </a:pPr>
            <a:r>
              <a:rPr b="1" sz="1400">
                <a:solidFill>
                  <a:srgbClr val="000000"/>
                </a:solidFill>
                <a:latin typeface="Arial"/>
              </a:rPr>
              <a:t>  - 225-Point Holistic Pipeline: </a:t>
            </a:r>
            <a:r>
              <a:rPr b="0" sz="1400">
                <a:solidFill>
                  <a:srgbClr val="1E1E1E"/>
                </a:solidFill>
                <a:latin typeface="Arial"/>
              </a:rPr>
              <a:t>Extracted pose, hand, and lip coordinates, applying origin translation and shoulder scale normalization to eliminate background variance.</a:t>
            </a:r>
          </a:p>
          <a:p>
            <a:pPr lvl="1">
              <a:spcAft>
                <a:spcPts val="300"/>
              </a:spcAft>
              <a:defRPr>
                <a:latin typeface="Arial"/>
              </a:defRPr>
            </a:pPr>
            <a:r>
              <a:rPr b="1" sz="1400">
                <a:solidFill>
                  <a:srgbClr val="000000"/>
                </a:solidFill>
                <a:latin typeface="Arial"/>
              </a:rPr>
              <a:t>  - High-Efficiency Neural Ensemble: </a:t>
            </a:r>
            <a:r>
              <a:rPr b="0" sz="1400">
                <a:solidFill>
                  <a:srgbClr val="1E1E1E"/>
                </a:solidFill>
                <a:latin typeface="Arial"/>
              </a:rPr>
              <a:t>Paired a 4-head Spatial-Temporal Transformer (65%) with an optimized BiLSTM (35%) to achieve 34.88% Top-1 and 67.83% Top-5 accuracy.</a:t>
            </a:r>
          </a:p>
          <a:p>
            <a:pPr lvl="1">
              <a:spcAft>
                <a:spcPts val="600"/>
              </a:spcAft>
              <a:defRPr>
                <a:latin typeface="Arial"/>
              </a:defRPr>
            </a:pPr>
            <a:r>
              <a:rPr b="1" sz="1400">
                <a:solidFill>
                  <a:srgbClr val="000000"/>
                </a:solidFill>
                <a:latin typeface="Arial"/>
              </a:rPr>
              <a:t>  - Kinematic Motion Synthesis: </a:t>
            </a:r>
            <a:r>
              <a:rPr b="0" sz="1400">
                <a:solidFill>
                  <a:srgbClr val="1E1E1E"/>
                </a:solidFill>
                <a:latin typeface="Arial"/>
              </a:rPr>
              <a:t>Mapped all 2,000 WLASL signs into fluid Three.js animations with 8-frame Hermite cubic ease-in-out transition blending.</a:t>
            </a:r>
          </a:p>
          <a:p>
            <a:pPr>
              <a:spcAft>
                <a:spcPts val="300"/>
              </a:spcAft>
              <a:defRPr>
                <a:latin typeface="Arial"/>
              </a:defRPr>
            </a:pPr>
            <a:r>
              <a:rPr b="1" sz="1600">
                <a:solidFill>
                  <a:srgbClr val="000000"/>
                </a:solidFill>
                <a:latin typeface="Arial"/>
              </a:rPr>
              <a:t>• Key Learnings: </a:t>
            </a:r>
            <a:r>
              <a:rPr b="0" sz="1600">
                <a:solidFill>
                  <a:srgbClr val="1E1E1E"/>
                </a:solidFill>
                <a:latin typeface="Arial"/>
              </a:rPr>
              <a:t/>
            </a:r>
          </a:p>
          <a:p>
            <a:pPr lvl="1">
              <a:spcAft>
                <a:spcPts val="300"/>
              </a:spcAft>
              <a:defRPr>
                <a:latin typeface="Arial"/>
              </a:defRPr>
            </a:pPr>
            <a:r>
              <a:rPr b="1" sz="1400">
                <a:solidFill>
                  <a:srgbClr val="000000"/>
                </a:solidFill>
                <a:latin typeface="Arial"/>
              </a:rPr>
              <a:t>  1. Geometric Efficiency: </a:t>
            </a:r>
            <a:r>
              <a:rPr b="0" sz="1400">
                <a:solidFill>
                  <a:srgbClr val="1E1E1E"/>
                </a:solidFill>
                <a:latin typeface="Arial"/>
              </a:rPr>
              <a:t>Landmark vectors reduce data volume by 99.8% relative to raw video, enabling 78.4 ms CPU latency without requiring expensive GPUs.</a:t>
            </a:r>
          </a:p>
          <a:p>
            <a:pPr lvl="1">
              <a:spcAft>
                <a:spcPts val="300"/>
              </a:spcAft>
              <a:defRPr>
                <a:latin typeface="Arial"/>
              </a:defRPr>
            </a:pPr>
            <a:r>
              <a:rPr b="1" sz="1400">
                <a:solidFill>
                  <a:srgbClr val="000000"/>
                </a:solidFill>
                <a:latin typeface="Arial"/>
              </a:rPr>
              <a:t>  2. Ensemble Synergy: </a:t>
            </a:r>
            <a:r>
              <a:rPr b="0" sz="1400">
                <a:solidFill>
                  <a:srgbClr val="1E1E1E"/>
                </a:solidFill>
                <a:latin typeface="Arial"/>
              </a:rPr>
              <a:t>Combining self-attention (global context) with recurrent layers (local sequential dynamics) creates superior robustness on open-vocabulary sign benchmarks.</a:t>
            </a:r>
          </a:p>
          <a:p>
            <a:pPr lvl="1">
              <a:spcAft>
                <a:spcPts val="400"/>
              </a:spcAft>
              <a:defRPr>
                <a:latin typeface="Arial"/>
              </a:defRPr>
            </a:pPr>
            <a:r>
              <a:rPr b="1" sz="1400">
                <a:solidFill>
                  <a:srgbClr val="000000"/>
                </a:solidFill>
                <a:latin typeface="Arial"/>
              </a:rPr>
              <a:t>  3. User Experience Matters: </a:t>
            </a:r>
            <a:r>
              <a:rPr b="0" sz="1400">
                <a:solidFill>
                  <a:srgbClr val="1E1E1E"/>
                </a:solidFill>
                <a:latin typeface="Arial"/>
              </a:rPr>
              <a:t>Smooth transition interpolation and natural cartoon avatar articulation are critical for sign comprehension and accessibility.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0000"/>
                </a:solidFill>
                <a:latin typeface="Arial"/>
              </a:defRPr>
            </a:pPr>
            <a:r>
              <a:t>References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7680960" cy="530352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spcAft>
                <a:spcPts val="200"/>
              </a:spcAft>
              <a:defRPr>
                <a:latin typeface="Arial"/>
              </a:defRPr>
            </a:pPr>
            <a:r>
              <a:rPr b="1" sz="1500">
                <a:solidFill>
                  <a:srgbClr val="000000"/>
                </a:solidFill>
                <a:latin typeface="Arial"/>
              </a:rPr>
              <a:t>• Research Papers: </a:t>
            </a:r>
            <a:r>
              <a:rPr b="0" sz="1500">
                <a:solidFill>
                  <a:srgbClr val="1E1E1E"/>
                </a:solidFill>
                <a:latin typeface="Arial"/>
              </a:rPr>
              <a:t/>
            </a:r>
          </a:p>
          <a:p>
            <a:pPr lvl="1">
              <a:spcAft>
                <a:spcPts val="200"/>
              </a:spcAft>
              <a:defRPr>
                <a:latin typeface="Arial"/>
              </a:defRPr>
            </a:pPr>
            <a:r>
              <a:rPr b="1" sz="1200">
                <a:solidFill>
                  <a:srgbClr val="000000"/>
                </a:solidFill>
                <a:latin typeface="Arial"/>
              </a:rPr>
              <a:t>  [1] </a:t>
            </a:r>
            <a:r>
              <a:rPr b="0" sz="1200">
                <a:solidFill>
                  <a:srgbClr val="1E1E1E"/>
                </a:solidFill>
                <a:latin typeface="Arial"/>
              </a:rPr>
              <a:t>D. Li et al., 'Word-level Deep Sign Language Recognition from Video,' in IEEE/CVF WACV, 2020, pp. 1459–1469.</a:t>
            </a:r>
          </a:p>
          <a:p>
            <a:pPr lvl="1">
              <a:spcAft>
                <a:spcPts val="200"/>
              </a:spcAft>
              <a:defRPr>
                <a:latin typeface="Arial"/>
              </a:defRPr>
            </a:pPr>
            <a:r>
              <a:rPr b="1" sz="1200">
                <a:solidFill>
                  <a:srgbClr val="000000"/>
                </a:solidFill>
                <a:latin typeface="Arial"/>
              </a:rPr>
              <a:t>  [2] </a:t>
            </a:r>
            <a:r>
              <a:rPr b="0" sz="1200">
                <a:solidFill>
                  <a:srgbClr val="1E1E1E"/>
                </a:solidFill>
                <a:latin typeface="Arial"/>
              </a:rPr>
              <a:t>A. Vaswani et al., 'Attention Is All You Need,' in Advances in Neural Information Processing Systems (NeurIPS), 2017, pp. 5998–6008.</a:t>
            </a:r>
          </a:p>
          <a:p>
            <a:pPr lvl="1">
              <a:spcAft>
                <a:spcPts val="200"/>
              </a:spcAft>
              <a:defRPr>
                <a:latin typeface="Arial"/>
              </a:defRPr>
            </a:pPr>
            <a:r>
              <a:rPr b="1" sz="1200">
                <a:solidFill>
                  <a:srgbClr val="000000"/>
                </a:solidFill>
                <a:latin typeface="Arial"/>
              </a:rPr>
              <a:t>  [3] </a:t>
            </a:r>
            <a:r>
              <a:rPr b="0" sz="1200">
                <a:solidFill>
                  <a:srgbClr val="1E1E1E"/>
                </a:solidFill>
                <a:latin typeface="Arial"/>
              </a:rPr>
              <a:t>A. Graves et al., 'Speech Recognition with Deep Recurrent Neural Networks,' in IEEE ICASSP, 2013, pp. 6645–6649.</a:t>
            </a:r>
          </a:p>
          <a:p>
            <a:pPr lvl="1">
              <a:spcAft>
                <a:spcPts val="200"/>
              </a:spcAft>
              <a:defRPr>
                <a:latin typeface="Arial"/>
              </a:defRPr>
            </a:pPr>
            <a:r>
              <a:rPr b="1" sz="1200">
                <a:solidFill>
                  <a:srgbClr val="000000"/>
                </a:solidFill>
                <a:latin typeface="Arial"/>
              </a:rPr>
              <a:t>  [4] </a:t>
            </a:r>
            <a:r>
              <a:rPr b="0" sz="1200">
                <a:solidFill>
                  <a:srgbClr val="1E1E1E"/>
                </a:solidFill>
                <a:latin typeface="Arial"/>
              </a:rPr>
              <a:t>C. Lugaresi et al., 'MediaPipe: A Framework for Building Perception Pipelines,' in IEEE/CVF CVPRW, 2019.</a:t>
            </a:r>
          </a:p>
          <a:p>
            <a:pPr lvl="1">
              <a:spcAft>
                <a:spcPts val="200"/>
              </a:spcAft>
              <a:defRPr>
                <a:latin typeface="Arial"/>
              </a:defRPr>
            </a:pPr>
            <a:r>
              <a:rPr b="1" sz="1200">
                <a:solidFill>
                  <a:srgbClr val="000000"/>
                </a:solidFill>
                <a:latin typeface="Arial"/>
              </a:rPr>
              <a:t>  [5] </a:t>
            </a:r>
            <a:r>
              <a:rPr b="0" sz="1200">
                <a:solidFill>
                  <a:srgbClr val="1E1E1E"/>
                </a:solidFill>
                <a:latin typeface="Arial"/>
              </a:rPr>
              <a:t>S. Yan, Y. Xiong, and D. Lin, 'Spatial Temporal Graph Convolutional Networks,' in AAAI, 2018, pp. 7444–7452.</a:t>
            </a:r>
          </a:p>
          <a:p>
            <a:pPr lvl="1">
              <a:spcAft>
                <a:spcPts val="400"/>
              </a:spcAft>
              <a:defRPr>
                <a:latin typeface="Arial"/>
              </a:defRPr>
            </a:pPr>
            <a:r>
              <a:rPr b="1" sz="1200">
                <a:solidFill>
                  <a:srgbClr val="000000"/>
                </a:solidFill>
                <a:latin typeface="Arial"/>
              </a:rPr>
              <a:t>  [6] </a:t>
            </a:r>
            <a:r>
              <a:rPr b="0" sz="1200">
                <a:solidFill>
                  <a:srgbClr val="1E1E1E"/>
                </a:solidFill>
                <a:latin typeface="Arial"/>
              </a:rPr>
              <a:t>N. C. Camgoz et al., 'Sign Language Transformers,' in IEEE/CVF CVPR, 2020, pp. 10023–10033.</a:t>
            </a:r>
          </a:p>
          <a:p>
            <a:pPr>
              <a:spcAft>
                <a:spcPts val="200"/>
              </a:spcAft>
              <a:defRPr>
                <a:latin typeface="Arial"/>
              </a:defRPr>
            </a:pPr>
            <a:r>
              <a:rPr b="1" sz="1500">
                <a:solidFill>
                  <a:srgbClr val="000000"/>
                </a:solidFill>
                <a:latin typeface="Arial"/>
              </a:rPr>
              <a:t>• Benchmark Datasets: </a:t>
            </a:r>
            <a:r>
              <a:rPr b="0" sz="1500">
                <a:solidFill>
                  <a:srgbClr val="1E1E1E"/>
                </a:solidFill>
                <a:latin typeface="Arial"/>
              </a:rPr>
              <a:t/>
            </a:r>
          </a:p>
          <a:p>
            <a:pPr lvl="1">
              <a:spcAft>
                <a:spcPts val="400"/>
              </a:spcAft>
              <a:defRPr>
                <a:latin typeface="Arial"/>
              </a:defRPr>
            </a:pPr>
            <a:r>
              <a:rPr b="1" sz="1200">
                <a:solidFill>
                  <a:srgbClr val="000000"/>
                </a:solidFill>
                <a:latin typeface="Arial"/>
              </a:rPr>
              <a:t>  [7] </a:t>
            </a:r>
            <a:r>
              <a:rPr b="0" sz="1200">
                <a:solidFill>
                  <a:srgbClr val="1E1E1E"/>
                </a:solidFill>
                <a:latin typeface="Arial"/>
              </a:rPr>
              <a:t>WLASL Dataset: World-Level American Sign Language Video Dataset (v0.3), 2,000 words, 21,083 clips across 119 signers.</a:t>
            </a:r>
          </a:p>
          <a:p>
            <a:pPr>
              <a:spcAft>
                <a:spcPts val="200"/>
              </a:spcAft>
              <a:defRPr>
                <a:latin typeface="Arial"/>
              </a:defRPr>
            </a:pPr>
            <a:r>
              <a:rPr b="1" sz="1500">
                <a:solidFill>
                  <a:srgbClr val="000000"/>
                </a:solidFill>
                <a:latin typeface="Arial"/>
              </a:rPr>
              <a:t>• Frameworks &amp; Tools: </a:t>
            </a:r>
            <a:r>
              <a:rPr b="0" sz="1500">
                <a:solidFill>
                  <a:srgbClr val="1E1E1E"/>
                </a:solidFill>
                <a:latin typeface="Arial"/>
              </a:rPr>
              <a:t/>
            </a:r>
          </a:p>
          <a:p>
            <a:pPr lvl="1">
              <a:spcAft>
                <a:spcPts val="300"/>
              </a:spcAft>
              <a:defRPr>
                <a:latin typeface="Arial"/>
              </a:defRPr>
            </a:pPr>
            <a:r>
              <a:rPr b="1" sz="1200">
                <a:solidFill>
                  <a:srgbClr val="000000"/>
                </a:solidFill>
                <a:latin typeface="Arial"/>
              </a:rPr>
              <a:t>  [8] </a:t>
            </a:r>
            <a:r>
              <a:rPr b="0" sz="1200">
                <a:solidFill>
                  <a:srgbClr val="1E1E1E"/>
                </a:solidFill>
                <a:latin typeface="Arial"/>
              </a:rPr>
              <a:t>TensorFlow 2.16, Keras, MediaPipe Holistic (0.10), OpenCV (4.8), Three.js (r128), Flask 3.0, Web Speech API, python-pptx, python-docx.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