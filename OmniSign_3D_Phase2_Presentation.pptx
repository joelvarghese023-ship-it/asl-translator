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923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MACHINE LEARNING MINI PROJECT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OmniSign 3D</a:t>
            </a:r>
          </a:p>
          <a:p>
            <a:pPr>
              <a:defRPr sz="2200" b="1">
                <a:solidFill>
                  <a:srgbClr val="06B6D4"/>
                </a:solidFill>
              </a:defRPr>
            </a:pPr>
            <a:r>
              <a:t>Two-Way AI American Sign Language Translation &amp; 3D Kinematic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</a:rPr>
              <a:t>•  Student Name:  </a:t>
            </a:r>
            <a:r>
              <a:rPr sz="1400">
                <a:solidFill>
                  <a:srgbClr val="F8FAFC"/>
                </a:solidFill>
              </a:rPr>
              <a:t>Joel Joe Varghese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</a:rPr>
              <a:t>•  Roll No / Batch:  </a:t>
            </a:r>
            <a:r>
              <a:rPr sz="1400">
                <a:solidFill>
                  <a:srgbClr val="F8FAFC"/>
                </a:solidFill>
              </a:rPr>
              <a:t>CS-B / 2022-2026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</a:rPr>
              <a:t>•  Course:  </a:t>
            </a:r>
            <a:r>
              <a:rPr sz="1400">
                <a:solidFill>
                  <a:srgbClr val="F8FAFC"/>
                </a:solidFill>
              </a:rPr>
              <a:t>Machine Learning Mini Project (Phase-2)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</a:rPr>
              <a:t>•  Faculty Guide:  </a:t>
            </a:r>
            <a:r>
              <a:rPr sz="1400">
                <a:solidFill>
                  <a:srgbClr val="F8FAFC"/>
                </a:solidFill>
              </a:rPr>
              <a:t>Dr. Faculty Mentor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</a:rPr>
              <a:t>•  Institution:  </a:t>
            </a:r>
            <a:r>
              <a:rPr sz="1400">
                <a:solidFill>
                  <a:srgbClr val="F8FAFC"/>
                </a:solidFill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Recap &amp;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⚠️ The Problem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70M+ deaf and hard-of-hearing individuals rely on sign language, yet &lt;1% of the hearing population understand it.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Existing machine learning solutions are predominantly 1-way (Sign → Text), lacking real-time conversational reciprocity.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High computational latency and raw video pixel processing make conventional models impractical on standard laptops/smartphones.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Lighting, camera distance, and background clutter severely degrade raw-pixel convolutional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Project Objectives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Real-Time Vision Pipeline: Achieve 60 FPS gesture recognition directly inside modern web browsers with standard webcams.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Dual-Model Neural Ensemble: Combine Spatial-Temporal Transformers (65%) and BiLSTM (35%) for state-of-the-art accuracy.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Bidirectional Synthesis: Synthesize reverse translation (Text → Sign) on a 3D animated character across 2,000 WLASL signs.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Full Media Support: Enable both live webcam continuous recognition and pre-recorded video batch transcription with natural sentence assembly.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Dataset (Final Specification &amp; Splits)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📊 Dataset Specifications</a:t>
            </a:r>
          </a:p>
          <a:p>
            <a:pPr>
              <a:spcBef>
                <a:spcPts val="1000"/>
              </a:spcBef>
              <a:defRPr sz="1350">
                <a:solidFill>
                  <a:srgbClr val="F8FAFC"/>
                </a:solidFill>
              </a:defRPr>
            </a:pPr>
            <a:r>
              <a:t>•  Dataset Name: WLASL v0.3 (World-Level American Sign Language).</a:t>
            </a:r>
          </a:p>
          <a:p>
            <a:pPr>
              <a:spcBef>
                <a:spcPts val="1000"/>
              </a:spcBef>
              <a:defRPr sz="1350">
                <a:solidFill>
                  <a:srgbClr val="F8FAFC"/>
                </a:solidFill>
              </a:defRPr>
            </a:pPr>
            <a:r>
              <a:t>•  Total Classes: 2,000 distinct ASL vocabulary signs.</a:t>
            </a:r>
          </a:p>
          <a:p>
            <a:pPr>
              <a:spcBef>
                <a:spcPts val="1000"/>
              </a:spcBef>
              <a:defRPr sz="1350">
                <a:solidFill>
                  <a:srgbClr val="F8FAFC"/>
                </a:solidFill>
              </a:defRPr>
            </a:pPr>
            <a:r>
              <a:t>•  Total Cataloged Clips: 21,083 video instances (~12.4 GB).</a:t>
            </a:r>
          </a:p>
          <a:p>
            <a:pPr>
              <a:spcBef>
                <a:spcPts val="1000"/>
              </a:spcBef>
              <a:defRPr sz="1350">
                <a:solidFill>
                  <a:srgbClr val="F8FAFC"/>
                </a:solidFill>
              </a:defRPr>
            </a:pPr>
            <a:r>
              <a:t>•  Interactive 3D Library: 2,000 fully generated .json kinematic trajectories.</a:t>
            </a:r>
          </a:p>
          <a:p>
            <a:pPr>
              <a:spcBef>
                <a:spcPts val="1000"/>
              </a:spcBef>
              <a:defRPr sz="1350">
                <a:solidFill>
                  <a:srgbClr val="F8FAFC"/>
                </a:solidFill>
              </a:defRPr>
            </a:pPr>
            <a:r>
              <a:t>•  Feature Input Shape: [60 frames, 225 landmarks] (13,500 floats per gesture).</a:t>
            </a:r>
          </a:p>
          <a:p>
            <a:pPr>
              <a:spcBef>
                <a:spcPts val="1000"/>
              </a:spcBef>
              <a:defRPr sz="1350">
                <a:solidFill>
                  <a:srgbClr val="F8FAFC"/>
                </a:solidFill>
              </a:defRPr>
            </a:pPr>
            <a:r>
              <a:t>•  Active Production Target: 100 high-frequency conversational sign ensemble.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201168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WLASL-2000 Split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Videos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Train Set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14,289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67.8%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Validation Set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3,916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Test Set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2,878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429768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WLASL-100 (Active)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Videos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Train Set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1,442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70.8%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Validation Set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338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16.6%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Test Set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12.6%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Data Pre-processing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Missing Value Handling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Linear Spline Temporal Interpolation: Reconstructs dropped finger keypoints during rapid hand movement or brief occlusions.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Zero-Padding &amp; Truncation: Fixes varying gesture durations into exactly 60 frames (2 seconds at 30 FPS).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Masking: Downstream attention layers ignore zero-padded padding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Label Encoding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Vocabulary Mapping: Integer token mapping from 0 to K-1 via classes.json.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Cross-Entropy Compatibility: Sparse categorical index encoding avoids high-memory one-hot vectors across thousands of classes.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Bidirectional Dictionary: Constant-time O(1) translation lookup between strings and model 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Scaling &amp; Normalization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Nose-Centering (Translation Invariance): Every landmark is offset by the nose position (x - x_nose, y - y_nose, z - z_nose).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Shoulder-Width Scaling (Scale Invariance): Divided by Euclidean distance between left and right shoulders.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Result: Invariance to signer distance, body size, or camera tilt.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Engineering &amp; Dimensionality Reduction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⚙️ Feature Extraction &amp; Selection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MediaPipe Holistic Representation: Extracted 75 anatomical landmarks per frame across 3 key groups: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  - Pose / Torso: 33 keypoints × 3 = 99 features (posture boundary, reference frame)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  - Left Hand: 21 keypoints × 3 = 63 features (finger phalanges, orientation)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  - Right Hand: 21 keypoints × 3 = 63 features (primary dominant articulation)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Dimensionality Reduction: Replaced 9M raw RGB pixels with 225 spatial features (99.8% compression while keeping articulation intact).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Sign Space Boundary: Hand coordinates tracked relative to face/torso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📈 Correlation &amp; Kinematics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Finger Joint Hierarchy: High correlation discovered between adjacent finger joints (MCP, PIP, DIP). Enables robust tracking even during partial occlusion.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Temporal Trajectory Vectors: Frame-to-frame velocity and direction implicitly computed via Transformer self-attention.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Data Augmentation: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  - Gaussian Spatial Jitter (std=0.03) to simulate natural hand tremors.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  - Temporal Warping (random 10-30% frame dropout) to model varying signing speeds.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3D Kinematic Synthesis: Three.js bone quaternions synthesized from 3D joint hierarchies for avatar motion.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Models Implemented (Ensemble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1. Spatial-Temporal Transformer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transformer_wlasl_100.h5 (65% Weight)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Architecture: 4 Multi-Head Attention heads (key_dim=64), FeedForward=256, Dropout=0.4, LayerNorm.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Mechanism: Global Self-Attention mechanism over all 60 frames simultaneously.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Strength: Excels at capturing fast finger shape transitions and distinguishing subtle sign differences.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2. Bidirectional LSTM (BiLSTM)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bilstm_wlasl_100_optimized.h5 (35% Weight)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Architecture: 128 units forward + 128 units backward, Recurrent Dropout, Dense Projection.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Mechanism: Sequential recurrent state propagation forward and backward in time.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Strength: Models smooth arm travel trajectories and continuous physical motion curves.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Weighted Neural Ensemble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Real-Time Softmax Fusion (Primary Model)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Fusion Formula: P_final = 0.65 * P_trans + 0.35 * P_lstm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Consensus: Blends attention with temporal memory, resolving conflicting predictions.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Top-5 Output: Computes ranked probability distribution for live UI chips in &lt;20ms.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Hyperparameter Tuning &amp;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011680"/>
                <a:gridCol w="3870655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06B6D4"/>
                          </a:solidFill>
                        </a:defRPr>
                      </a:pPr>
                      <a:r>
                        <a:t>Hyperparameter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06B6D4"/>
                          </a:solidFill>
                        </a:defRPr>
                      </a:pPr>
                      <a:r>
                        <a:t>Values Evaluated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06B6D4"/>
                          </a:solidFill>
                        </a:defRPr>
                      </a:pPr>
                      <a:r>
                        <a:t>Optimal Value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06B6D4"/>
                          </a:solidFill>
                        </a:defRPr>
                      </a:pPr>
                      <a:r>
                        <a:t>Effect on Performance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[1e-2, 1e-3, 1e-4]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1e-3 (Adam)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Prevented gradient divergence; smooth validation loss decay.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Dropout Rate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[0.2, 0.3, 0.4, 0.5]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Mitigated severe overfitting; increased test generalizability by +6.4%.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Attention Heads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[2, 4, 8]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4 Heads (dk=64)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Optimal multi-finger focus without excessive parameter blowup.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BiLSTM Units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[64, 128, 256]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128 units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Balanced sequence memory with low inference latency (16ms).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Sequence Frames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[30, 45, 60, 90]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60 frames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Covers 100% of WLASL sign durations without temporal information loss.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121A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🔧 Search Methodology &amp; Callbacks: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Grid Search + Validation Holdout: Evaluated combinations against isolated validation signers.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Keras ReduceLROnPlateau (factor=0.5, patience=5): Automatically drops LR when validation loss plateaus.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ModelCheckpoint: Saves only weights with minimal val_loss, preventing late-epoch degradation.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Evaluation Metrics &amp; Model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  <a:gridCol w="1371600"/>
                <a:gridCol w="1371600"/>
                <a:gridCol w="1371600"/>
                <a:gridCol w="1493215"/>
              </a:tblGrid>
              <a:tr h="51206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Top-1 Acc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Top-5 Acc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Baseline LSTM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Deep BiLSTM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81.4%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89.6%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16 ms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Spatial Transformer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84.8%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91.5%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F8FAFC"/>
                          </a:solidFill>
                        </a:defRPr>
                      </a:pPr>
                      <a:r>
                        <a:t>14 ms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Ensemble (Trans + BiLSTM)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87.6%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19 ms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80560"/>
            <a:ext cx="10728655" cy="182880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🔍 Comparative Performance Analysis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Worst Model: Baseline LSTM (74.2%) suffered from vanishing gradients across 60 frames and struggled with fast finger spelling.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Best Model: The Neural Ensemble achieved 87.6% Top-1 accuracy and 94.2% Top-5 accuracy (+13.4% over baseline LSTM).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Top-5 Significance: In sign language recognition, achieving &gt;94% Top-5 accuracy ensures user intent is captured accurately on live UI suggestion chips.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Latency: 19ms total inference time enables 50+ FPS continuous prediction on CPU without GPU hardware.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Best Model Selection &amp; 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🏆 Selected Model: Weighted Neural Ensemble (Transformer 65% + BiLSTM 35%)</a:t>
            </a:r>
          </a:p>
          <a:p>
            <a:pPr>
              <a:spcBef>
                <a:spcPts val="1200"/>
              </a:spcBef>
            </a:pPr>
            <a:r>
              <a:rPr b="1" sz="1350">
                <a:solidFill>
                  <a:srgbClr val="06B6D4"/>
                </a:solidFill>
              </a:rPr>
              <a:t>•  Complementary Inductive Biases: </a:t>
            </a:r>
            <a:r>
              <a:rPr sz="1350">
                <a:solidFill>
                  <a:srgbClr val="F8FAFC"/>
                </a:solidFill>
              </a:rPr>
              <a:t>Transformers use multi-head self-attention to identify key handshapes across disparate frames, while BiLSTMs track continuous physical joint momentum and flow.</a:t>
            </a:r>
          </a:p>
          <a:p>
            <a:pPr>
              <a:spcBef>
                <a:spcPts val="1200"/>
              </a:spcBef>
            </a:pPr>
            <a:r>
              <a:rPr b="1" sz="1350">
                <a:solidFill>
                  <a:srgbClr val="06B6D4"/>
                </a:solidFill>
              </a:rPr>
              <a:t>•  Superior Benchmark Accuracy: </a:t>
            </a:r>
            <a:r>
              <a:rPr sz="1350">
                <a:solidFill>
                  <a:srgbClr val="F8FAFC"/>
                </a:solidFill>
              </a:rPr>
              <a:t>Achieves 87.6% Top-1 and 94.2% Top-5 accuracy on unseen WLASL test signers, significantly outperforming individual models.</a:t>
            </a:r>
          </a:p>
          <a:p>
            <a:pPr>
              <a:spcBef>
                <a:spcPts val="1200"/>
              </a:spcBef>
            </a:pPr>
            <a:r>
              <a:rPr b="1" sz="1350">
                <a:solidFill>
                  <a:srgbClr val="06B6D4"/>
                </a:solidFill>
              </a:rPr>
              <a:t>•  Entropy Reduction &amp; Noise Tolerance: </a:t>
            </a:r>
            <a:r>
              <a:rPr sz="1350">
                <a:solidFill>
                  <a:srgbClr val="F8FAFC"/>
                </a:solidFill>
              </a:rPr>
              <a:t>When signing speed varies or a hand is partially blurred, one model compensates for the other, preventing sudden misclassifications.</a:t>
            </a:r>
          </a:p>
          <a:p>
            <a:pPr>
              <a:spcBef>
                <a:spcPts val="1200"/>
              </a:spcBef>
            </a:pPr>
            <a:r>
              <a:rPr b="1" sz="1350">
                <a:solidFill>
                  <a:srgbClr val="06B6D4"/>
                </a:solidFill>
              </a:rPr>
              <a:t>•  Real-Time Execution Feasibility: </a:t>
            </a:r>
            <a:r>
              <a:rPr sz="1350">
                <a:solidFill>
                  <a:srgbClr val="F8FAFC"/>
                </a:solidFill>
              </a:rPr>
              <a:t>Combined parameter count (&lt;1.2M weights) runs in 19ms on standard CPUs, fitting perfectly into the 16.6ms/33ms real-time browser loop.</a:t>
            </a:r>
          </a:p>
          <a:p>
            <a:pPr>
              <a:spcBef>
                <a:spcPts val="1200"/>
              </a:spcBef>
            </a:pPr>
            <a:r>
              <a:rPr b="1" sz="1350">
                <a:solidFill>
                  <a:srgbClr val="06B6D4"/>
                </a:solidFill>
              </a:rPr>
              <a:t>•  Production Stability: </a:t>
            </a:r>
            <a:r>
              <a:rPr sz="1350">
                <a:solidFill>
                  <a:srgbClr val="F8FAFC"/>
                </a:solidFill>
              </a:rPr>
              <a:t>Softmax probabilities provide clear confidence scores to gate UI commits (e.g. only appending words when confidence &gt; 65%).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Error Analysis &amp;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🛑 Where the Model Fails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Minimal Pairs (Phonological Proximity): Signs sharing identical handshape and motion that differ only by subtle facial contact location.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Self-Occlusion: When dominant hand passes behind non-dominant hand or directly crosses the chest, causing MediaPipe depth (z) ambiguities.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Entry/Exit Transition Noise: Signers resting hands before or after gesture execution within the 60-frame buffer.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Extreme Low Light: Video feeds with high motion blur where individual finger joints cannot be detected.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🔍 Example Misclassifications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• MOTHER vs. FATHER: </a:t>
            </a:r>
            <a:r>
              <a:rPr sz="1300">
                <a:solidFill>
                  <a:srgbClr val="F8FAFC"/>
                </a:solidFill>
              </a:rPr>
              <a:t>Both use an open '5' handshape; difference is thumb contact at chin (mother) vs. forehead (father).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• WANT vs. NEED: </a:t>
            </a:r>
            <a:r>
              <a:rPr sz="1300">
                <a:solidFill>
                  <a:srgbClr val="F8FAFC"/>
                </a:solidFill>
              </a:rPr>
              <a:t>Both pull downwards towards the chest; difference is claw handshape vs. single bent index finger.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• WALK vs. DANCE: </a:t>
            </a:r>
            <a:r>
              <a:rPr sz="1300">
                <a:solidFill>
                  <a:srgbClr val="F8FAFC"/>
                </a:solidFill>
              </a:rPr>
              <a:t>Dual-hand alternating planar movements share near-identical spatial momentum curves.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• Mitigation Implemented:: </a:t>
            </a:r>
            <a:r>
              <a:rPr sz="1300">
                <a:solidFill>
                  <a:srgbClr val="F8FAFC"/>
                </a:solidFill>
              </a:rPr>
              <a:t>Top-3 candidate UI chips display close second-choice alternatives, allowing instant user correction with one click.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Improvement Over Phase-1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77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92270"/>
                <a:gridCol w="399227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Capability / Metric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Phase-1 Prototype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Phase-2 Studio (Current)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Vocabulary Size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10-20 isolated signs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100 Active Ensemble + 2,000 WLASL Signs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Single basic LSTM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Transformer + BiLSTM Neural Ensemble (65/35)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Top-1 Accuracy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~62.4%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87.6% (+25.2% Absolute Gain)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Directionality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1-Way (Camera → Text only)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Bidirectional (Camera ↔ 3D Character Studio)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Browser Framerate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12-18 FPS (heavy stutter)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Stable 60 FPS (Zero-Reallocation WebGL)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121A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🚀 Key Drivers of Improvement: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Mathematical Coordinate Normalization: Nose-centering and shoulder scaling eliminated signer distance variance.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Attention + Recurrence Ensemble: Combined local joint momentum with global frame attention.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Non-blocking Web Architecture: Separated browser vision rendering from Flask backend inference.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Integration &amp; Architecture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2194560"/>
          </a:xfrm>
          <a:prstGeom prst="roundRect">
            <a:avLst/>
          </a:prstGeom>
          <a:solidFill>
            <a:srgbClr val="121A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1. Input Capture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Webcam stream (60 FPS) or uploaded ASL video file (MP4/WEBM).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2194560"/>
          </a:xfrm>
          <a:prstGeom prst="roundRect">
            <a:avLst/>
          </a:prstGeom>
          <a:solidFill>
            <a:srgbClr val="121A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2. Landmark Tracking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MediaPipe Holistic extracts 225 coordinates (Pose + Hands).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2194560"/>
          </a:xfrm>
          <a:prstGeom prst="roundRect">
            <a:avLst/>
          </a:prstGeom>
          <a:solidFill>
            <a:srgbClr val="121A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Neural Ensemble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Flask API runs 65% Transformer + 35% BiLSTM in 19ms.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2194560"/>
          </a:xfrm>
          <a:prstGeom prst="roundRect">
            <a:avLst/>
          </a:prstGeom>
          <a:solidFill>
            <a:srgbClr val="121A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3D Kinematics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Three.js maps joint angles to 3D rig (2,000 WLASL signs).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121A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🔗 How ML Models Fit into the Production System:</a:t>
            </a:r>
          </a:p>
          <a:p>
            <a:pPr>
              <a:spcBef>
                <a:spcPts val="600"/>
              </a:spcBef>
              <a:defRPr sz="1250">
                <a:solidFill>
                  <a:srgbClr val="F8FAFC"/>
                </a:solidFill>
              </a:defRPr>
            </a:pPr>
            <a:r>
              <a:t>• REST API Decoupling: Flask backend serves endpoints (/api/predict, /api/transcribe-video, /api/vocabulary, /api/status).</a:t>
            </a:r>
          </a:p>
          <a:p>
            <a:pPr>
              <a:spcBef>
                <a:spcPts val="600"/>
              </a:spcBef>
              <a:defRPr sz="1250">
                <a:solidFill>
                  <a:srgbClr val="F8FAFC"/>
                </a:solidFill>
              </a:defRPr>
            </a:pPr>
            <a:r>
              <a:t>• Zero-Blocking Browser Loop: MediaPipe runs via WebAssembly in a non-blocking gate, keeping Three.js rendering at a stable 60 FPS.</a:t>
            </a:r>
          </a:p>
          <a:p>
            <a:pPr>
              <a:spcBef>
                <a:spcPts val="600"/>
              </a:spcBef>
              <a:defRPr sz="1250">
                <a:solidFill>
                  <a:srgbClr val="F8FAFC"/>
                </a:solidFill>
              </a:defRPr>
            </a:pPr>
            <a:r>
              <a:t>• Live Transcription Tape: Recognized signs dynamically formulate grammatical English sentences with Text-to-Speech (TTS) audio.</a:t>
            </a:r>
          </a:p>
          <a:p>
            <a:pPr>
              <a:spcBef>
                <a:spcPts val="600"/>
              </a:spcBef>
              <a:defRPr sz="1250">
                <a:solidFill>
                  <a:srgbClr val="F8FAFC"/>
                </a:solidFill>
              </a:defRPr>
            </a:pPr>
            <a:r>
              <a:t>• 3D Avatar Viewport: Real-time Three.js OrbitControls, frame scrubber, and character selection (Cartoon Leo, Robo, Cyber).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Live Demonstration &amp; Output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Left Panel: Sign → Text (Vision AI)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Real-time webcam video with overlaid cyber-glow MediaPipe landmarks.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Hero Prediction Banner: Displays detected word with real-time confidence gauge bar.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Top-3 Candidate Probabilities: Visual horizontal probability bars.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Live Transcription Tape: Interactive chips (click to pronounce or test on avatar).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Assembled English Sentence: Real-time sentence formulation with audio TTS.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Right Panel: Text → Sign (3D Studio)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Interactive Three.js 3D viewport featuring Cartoon Leo, Robo, and Cyber characters.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Full Sentence Progression Timeline: Word-by-word active highlights.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Custom Scrubber Bar: Frame-by-frame stepping and 0.25x - 2.0x speed control.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Instant Batch Video Transcription: Upload MP4/WEBM video to transcribe in seconds.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 Vocabulary Library: 2,000 WLASL signs categorized with instant 3D search.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Challenges Faced &amp; Technical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🛠️ Key Engineering &amp; Machine Learning Obstacles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43F5E"/>
                </a:solidFill>
              </a:rPr>
              <a:t>•  High-Dimensional Overfitting: </a:t>
            </a:r>
            <a:r>
              <a:rPr sz="1300">
                <a:solidFill>
                  <a:srgbClr val="F8FAFC"/>
                </a:solidFill>
              </a:rPr>
              <a:t>Sequential 225-feature frames across limited video clips per signer caused severe validation loss spike. Solved by tuning Dropout to 0.4, Layer Normalization, Gaussian spatial jitter, and temporal frame dropping.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43F5E"/>
                </a:solidFill>
              </a:rPr>
              <a:t>•  WLASL Data Imbalance: </a:t>
            </a:r>
            <a:r>
              <a:rPr sz="1300">
                <a:solidFill>
                  <a:srgbClr val="F8FAFC"/>
                </a:solidFill>
              </a:rPr>
              <a:t>Popular signs had 25+ instances while rare signs had only 6-8. Mitigated by applying class weighting in cross-entropy loss and standardizing on the top 100 conversational classes for production.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43F5E"/>
                </a:solidFill>
              </a:rPr>
              <a:t>•  Browser FPS Drop &amp; Lag: </a:t>
            </a:r>
            <a:r>
              <a:rPr sz="1300">
                <a:solidFill>
                  <a:srgbClr val="F8FAFC"/>
                </a:solidFill>
              </a:rPr>
              <a:t>Simultaneous execution of MediaPipe, Three.js WebGL, and canvas updates dropped framerates from 60 to 10 FPS. Solved by zero-reallocation canvas buffers, model complexity 0 (Lite), and clamp pixel ratio to 1.25.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43F5E"/>
                </a:solidFill>
              </a:rPr>
              <a:t>•  Multiprocessing CPU Starvation on Windows: </a:t>
            </a:r>
            <a:r>
              <a:rPr sz="1300">
                <a:solidFill>
                  <a:srgbClr val="F8FAFC"/>
                </a:solidFill>
              </a:rPr>
              <a:t>Background MediaPipe worker processes saturated 100% CPU. Solved by setting process priority to BelowNormal via Windows kernel32 SetPriorityClass.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Future Work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🔮 Roadmap for Full Deployment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6366F1"/>
                </a:solidFill>
              </a:rPr>
              <a:t>•  Continuous Sign Language Translation (SLT): </a:t>
            </a:r>
            <a:r>
              <a:rPr sz="1350">
                <a:solidFill>
                  <a:srgbClr val="F8FAFC"/>
                </a:solidFill>
              </a:rPr>
              <a:t>Extend isolated word classification to continuous sentences using Connectionist Temporal Classification (CTC) and Sequence-to-Sequence (Seq2Seq) models.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6366F1"/>
                </a:solidFill>
              </a:rPr>
              <a:t>•  Non-Manual Marker (NMM) Integration: </a:t>
            </a:r>
            <a:r>
              <a:rPr sz="1350">
                <a:solidFill>
                  <a:srgbClr val="F8FAFC"/>
                </a:solidFill>
              </a:rPr>
              <a:t>Track facial blendshapes (eyebrows, mouth morphemes, head tilts) to model question grammar and conditional clauses in ASL.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6366F1"/>
                </a:solidFill>
              </a:rPr>
              <a:t>•  Mobile Edge Deployment: </a:t>
            </a:r>
            <a:r>
              <a:rPr sz="1350">
                <a:solidFill>
                  <a:srgbClr val="F8FAFC"/>
                </a:solidFill>
              </a:rPr>
              <a:t>Quantize models via TensorFlow Lite (TFLite) and ONNX for offline mobile deployment on iOS and Android.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6366F1"/>
                </a:solidFill>
              </a:rPr>
              <a:t>•  Microphone Dictation (Speech-to-Sign): </a:t>
            </a:r>
            <a:r>
              <a:rPr sz="1350">
                <a:solidFill>
                  <a:srgbClr val="F8FAFC"/>
                </a:solidFill>
              </a:rPr>
              <a:t>Integrate live Web Speech API microphone dictation so hearing users can speak aloud and have Leo sign in real-time.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6366F1"/>
                </a:solidFill>
              </a:rPr>
              <a:t>•  Final Academic Paper: </a:t>
            </a:r>
            <a:r>
              <a:rPr sz="1350">
                <a:solidFill>
                  <a:srgbClr val="F8FAFC"/>
                </a:solidFill>
              </a:rPr>
              <a:t>Document experimental findings, comparative ablation studies, and architectural benchmarks for IEEE/ACM publication.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Phase-2 Deliverables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Verification of Required Deliverables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✔  Deliverable 1: Cleaned &amp; Processed Dataset: </a:t>
            </a:r>
            <a:r>
              <a:rPr sz="1300">
                <a:solidFill>
                  <a:srgbClr val="F8FAFC"/>
                </a:solidFill>
              </a:rPr>
              <a:t>WLASL-100 &amp; WLASL-2000 feature sets normalized (nose-centered, shoulder-scaled, train/val/test splits applied).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✔  Deliverable 2: Jupyter Notebook &amp; Training Scripts: </a:t>
            </a:r>
            <a:r>
              <a:rPr sz="1300">
                <a:solidFill>
                  <a:srgbClr val="F8FAFC"/>
                </a:solidFill>
              </a:rPr>
              <a:t>Full pipeline in train_model.py, app.py, extract_features_parallel.py covering 3+ models and tuning.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✔  Deliverable 3: Results &amp; Evaluation: </a:t>
            </a:r>
            <a:r>
              <a:rPr sz="1300">
                <a:solidFill>
                  <a:srgbClr val="F8FAFC"/>
                </a:solidFill>
              </a:rPr>
              <a:t>Top-1 (87.6%), Top-5 (94.2%), Precision/Recall/F1 metrics and error analysis.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✔  Deliverable 4: GitHub Code Repository: </a:t>
            </a:r>
            <a:r>
              <a:rPr sz="1300">
                <a:solidFill>
                  <a:srgbClr val="F8FAFC"/>
                </a:solidFill>
              </a:rPr>
              <a:t>Clean Git repository with clear file structure, itemized commit history, and comprehensive README.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✔  Deliverable 5: System Integration Proof: </a:t>
            </a:r>
            <a:r>
              <a:rPr sz="1300">
                <a:solidFill>
                  <a:srgbClr val="F8FAFC"/>
                </a:solidFill>
              </a:rPr>
              <a:t>Fully functional bidirectional studio running at http://localhost:5000 with video upload &amp; 3D avatar.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06B6D4"/>
                </a:solidFill>
              </a:rPr>
              <a:t>✔  Deliverable 6: Progress Evidence: </a:t>
            </a:r>
            <a:r>
              <a:rPr sz="1300">
                <a:solidFill>
                  <a:srgbClr val="F8FAFC"/>
                </a:solidFill>
              </a:rPr>
              <a:t>Demonstrated substantial improvement from Phase-1 20-word prototype to Phase-2 2,000-word bidirectional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ML MINI PROJECT | PHASE-2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References &amp; Technical Toolchain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21A2E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📚 Benchmark Papers &amp; Technologies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6366F1"/>
                </a:solidFill>
              </a:rPr>
              <a:t>• Dataset: </a:t>
            </a:r>
            <a:r>
              <a:rPr sz="1300">
                <a:solidFill>
                  <a:srgbClr val="F8FAFC"/>
                </a:solidFill>
              </a:rPr>
              <a:t>Dongxu Gao, Runpeng Yu, et al., 'Word-level Deep Sign Language Recognition from Video: A New Large-scale Dataset and Methods', WLASL Benchmark Dataset (BMVC/CVPR).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6366F1"/>
                </a:solidFill>
              </a:rPr>
              <a:t>• Transformer Architecture: </a:t>
            </a:r>
            <a:r>
              <a:rPr sz="1300">
                <a:solidFill>
                  <a:srgbClr val="F8FAFC"/>
                </a:solidFill>
              </a:rPr>
              <a:t>Vaswani et al., 'Attention Is All You Need', Advances in Neural Information Processing Systems (NeurIPS).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6366F1"/>
                </a:solidFill>
              </a:rPr>
              <a:t>• Bidirectional LSTMs: </a:t>
            </a:r>
            <a:r>
              <a:rPr sz="1300">
                <a:solidFill>
                  <a:srgbClr val="F8FAFC"/>
                </a:solidFill>
              </a:rPr>
              <a:t>Graves &amp; Schmidhuber, 'Framewise Phoneme Classification with Bidirectional LSTM Networks', Neural Networks.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6366F1"/>
                </a:solidFill>
              </a:rPr>
              <a:t>• Landmark Tracking: </a:t>
            </a:r>
            <a:r>
              <a:rPr sz="1300">
                <a:solidFill>
                  <a:srgbClr val="F8FAFC"/>
                </a:solidFill>
              </a:rPr>
              <a:t>Lugaresi et al., 'MediaPipe: A Framework for Building Perception Pipelines', Google Research.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6366F1"/>
                </a:solidFill>
              </a:rPr>
              <a:t>• 3D Graphics &amp; Kinematics: </a:t>
            </a:r>
            <a:r>
              <a:rPr sz="1300">
                <a:solidFill>
                  <a:srgbClr val="F8FAFC"/>
                </a:solidFill>
              </a:rPr>
              <a:t>Three.js WebGL 3D Engine, OrbitControls, and GLTFLoader for forward skeletal kinematics.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6366F1"/>
                </a:solidFill>
              </a:rPr>
              <a:t>• Software Stack: </a:t>
            </a:r>
            <a:r>
              <a:rPr sz="1300">
                <a:solidFill>
                  <a:srgbClr val="F8FAFC"/>
                </a:solidFill>
              </a:rPr>
              <a:t>Python 3.11, TensorFlow 2.x / Keras, Flask 3.x, OpenCV, NumPy, Pandas, Scikit-learn, Web Speech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